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83da9799974b42" /><Relationship Type="http://schemas.openxmlformats.org/officeDocument/2006/relationships/extended-properties" Target="/docProps/app.xml" Id="Ra1428cd9e6924eae" /><Relationship Type="http://schemas.openxmlformats.org/officeDocument/2006/relationships/officeDocument" Target="/ppt/presentation.xml" Id="R99ba5c7af0d74b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57617aad494ce8"/>
  </p:sldMasterIdLst>
  <p:notesMasterIdLst>
    <p:notesMasterId xmlns:r="http://schemas.openxmlformats.org/officeDocument/2006/relationships" r:id="Raa2934af44e147ed"/>
  </p:notesMasterIdLst>
  <p:sldIdLst>
    <p:sldId xmlns:r="http://schemas.openxmlformats.org/officeDocument/2006/relationships" id="256" r:id="Rcf68595bd1bd4e0a"/>
    <p:sldId xmlns:r="http://schemas.openxmlformats.org/officeDocument/2006/relationships" id="257" r:id="R1bf2e26aa7624b61"/>
    <p:sldId xmlns:r="http://schemas.openxmlformats.org/officeDocument/2006/relationships" id="258" r:id="Ra80ddb1399364216"/>
    <p:sldId xmlns:r="http://schemas.openxmlformats.org/officeDocument/2006/relationships" id="259" r:id="Rd2515ce8f6654479"/>
    <p:sldId xmlns:r="http://schemas.openxmlformats.org/officeDocument/2006/relationships" id="260" r:id="R01b03e7f589d4f5b"/>
    <p:sldId xmlns:r="http://schemas.openxmlformats.org/officeDocument/2006/relationships" id="261" r:id="R731f7573e5e04ae9"/>
    <p:sldId xmlns:r="http://schemas.openxmlformats.org/officeDocument/2006/relationships" id="262" r:id="R303d279f3c154d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a60e0fc2d24311" /><Relationship Type="http://schemas.openxmlformats.org/officeDocument/2006/relationships/slideMaster" Target="/ppt/slideMasters/slideMaster1.xml" Id="R2d57617aad494ce8" /><Relationship Type="http://schemas.openxmlformats.org/officeDocument/2006/relationships/notesMaster" Target="/ppt/notesMasters/notesMaster1.xml" Id="Raa2934af44e147ed" /><Relationship Type="http://schemas.openxmlformats.org/officeDocument/2006/relationships/presProps" Target="/ppt/presProps.xml" Id="Rc4fbe2c1779349e0" /><Relationship Type="http://schemas.openxmlformats.org/officeDocument/2006/relationships/tableStyles" Target="/ppt/tableStyles.xml" Id="Rc35380e9020f4a65" /><Relationship Type="http://schemas.openxmlformats.org/officeDocument/2006/relationships/slide" Target="/ppt/slides/slide1.xml" Id="Rcf68595bd1bd4e0a" /><Relationship Type="http://schemas.openxmlformats.org/officeDocument/2006/relationships/slide" Target="/ppt/slides/slide2.xml" Id="R1bf2e26aa7624b61" /><Relationship Type="http://schemas.openxmlformats.org/officeDocument/2006/relationships/slide" Target="/ppt/slides/slide3.xml" Id="Ra80ddb1399364216" /><Relationship Type="http://schemas.openxmlformats.org/officeDocument/2006/relationships/slide" Target="/ppt/slides/slide4.xml" Id="Rd2515ce8f6654479" /><Relationship Type="http://schemas.openxmlformats.org/officeDocument/2006/relationships/slide" Target="/ppt/slides/slide5.xml" Id="R01b03e7f589d4f5b" /><Relationship Type="http://schemas.openxmlformats.org/officeDocument/2006/relationships/slide" Target="/ppt/slides/slide6.xml" Id="R731f7573e5e04ae9" /><Relationship Type="http://schemas.openxmlformats.org/officeDocument/2006/relationships/slide" Target="/ppt/slides/slide7.xml" Id="R303d279f3c154d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45614d8e9743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f307cd5c994c28" /><Relationship Type="http://schemas.openxmlformats.org/officeDocument/2006/relationships/notesMaster" Target="/ppt/notesMasters/notesMaster1.xml" Id="R789b9ae4c6f047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39f09af7f64500" /><Relationship Type="http://schemas.openxmlformats.org/officeDocument/2006/relationships/notesMaster" Target="/ppt/notesMasters/notesMaster1.xml" Id="R776d3e89020c42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6d338cff08420a" /><Relationship Type="http://schemas.openxmlformats.org/officeDocument/2006/relationships/notesMaster" Target="/ppt/notesMasters/notesMaster1.xml" Id="R0881427bc09343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9c8546b32c4f2e" /><Relationship Type="http://schemas.openxmlformats.org/officeDocument/2006/relationships/notesMaster" Target="/ppt/notesMasters/notesMaster1.xml" Id="R94e163345bb540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14d4b1a598417b" /><Relationship Type="http://schemas.openxmlformats.org/officeDocument/2006/relationships/notesMaster" Target="/ppt/notesMasters/notesMaster1.xml" Id="R3a306322b1044b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231834063f4bab" /><Relationship Type="http://schemas.openxmlformats.org/officeDocument/2006/relationships/notesMaster" Target="/ppt/notesMasters/notesMaster1.xml" Id="Rce24807dd41d45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f7982762414273" /><Relationship Type="http://schemas.openxmlformats.org/officeDocument/2006/relationships/notesMaster" Target="/ppt/notesMasters/notesMaster1.xml" Id="Rd40e7fc7951740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NISR EICV7 microdata catalog and EICV7 Main Indicators Report. Fieldwork: October 2023–October 2024. Analysis is descriptive.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Definitions follow the EICV7 microdata modules. The survey does not observe household VUP eligibility. Source: NISR EICV7 catalog/questionnaire; authors’ calculations.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NISR EICV7 Main Indicators Report and microdata catalog. Analysis sample count and weighted estimates are calculated from the provided EICV7 files. Population poverty uses pop_wt; household coverage/overlap uses weight.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Authors’ weighted calculations from EICV7. NISR reports national population poverty of 27.4% for 2023/24. VUP coverage combines five participation modules. Financial access requires at least one household member with a bank or mobile-money account. The estimated poor-household count uses household expansion weights.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District burden is the sum of household survey weights for poor households classified as double-excluded. Top five based on EICV7 analysis output. Rounded counts and rates. These district rankings are estimates and carry sampling uncertainty.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Rates and approximate 95% confidence intervals calculated from the EICV7 district output. Variance uses stratified PSU-cluster ratio linearization and normal 1.96 multiplier; confirm against NISR survey-design documentation before publication. Poor-household sample sizes: Nyarugenge 35, Kicukiro 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Recommendations are proposed actions based on descriptive EICV7 findings, not causal impact estimates. Sources: NISR EICV7 microdata/catalog, Main Indicators Report, and authors’ calculations. District boundary layer source: Rwanda National Geodata / NISR and Rwanda Land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6146d042aa464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ec11ada67f452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3e815703f2466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18edff937e40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d8df5b5e774b6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562ded610d49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CA6198-BD63-4407-AA0C-78D1C9B784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2550B82-5643-4514-9E20-7E880EDCBBC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8DAF09C-91AB-461B-BE57-1F8E6294FC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4FD357-CB3D-4BDE-A5DB-1A81DAE7A3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44313AE-E081-4BFE-BB32-1290EC30CE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01965FE-3BEA-4F9D-9F48-D35A7EE23F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C5086D-186B-4BC0-83B1-F6090B61C2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F99EA20-10F4-449C-A81D-6DB01077AB8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B1B9CD-B802-4027-B58F-3068E498C1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78F7B0-8945-47EF-8F33-23A7B309F2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2468da44cd4813" /><Relationship Type="http://schemas.openxmlformats.org/officeDocument/2006/relationships/slideLayout" Target="/ppt/slideLayouts/slideLayout1.xml" Id="Rc45bd195d3ea46d3" /><Relationship Type="http://schemas.openxmlformats.org/officeDocument/2006/relationships/slideLayout" Target="/ppt/slideLayouts/slideLayout2.xml" Id="R55278d02e4eb4ec6" /><Relationship Type="http://schemas.openxmlformats.org/officeDocument/2006/relationships/slideLayout" Target="/ppt/slideLayouts/slideLayout3.xml" Id="R516e923938be4605" /><Relationship Type="http://schemas.openxmlformats.org/officeDocument/2006/relationships/slideLayout" Target="/ppt/slideLayouts/slideLayout4.xml" Id="R4eed502488a649dc" /><Relationship Type="http://schemas.openxmlformats.org/officeDocument/2006/relationships/slideLayout" Target="/ppt/slideLayouts/slideLayout5.xml" Id="R51b9cb689cdb4c00" /><Relationship Type="http://schemas.openxmlformats.org/officeDocument/2006/relationships/slideLayout" Target="/ppt/slideLayouts/slideLayout6.xml" Id="R4319bf14b5584e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5bd195d3ea46d3"/>
    <p:sldLayoutId xmlns:r="http://schemas.openxmlformats.org/officeDocument/2006/relationships" id="2147483650" r:id="R55278d02e4eb4ec6"/>
    <p:sldLayoutId xmlns:r="http://schemas.openxmlformats.org/officeDocument/2006/relationships" id="2147483651" r:id="R516e923938be4605"/>
    <p:sldLayoutId xmlns:r="http://schemas.openxmlformats.org/officeDocument/2006/relationships" id="2147483652" r:id="R4eed502488a649dc"/>
    <p:sldLayoutId xmlns:r="http://schemas.openxmlformats.org/officeDocument/2006/relationships" id="2147483653" r:id="R51b9cb689cdb4c00"/>
    <p:sldLayoutId xmlns:r="http://schemas.openxmlformats.org/officeDocument/2006/relationships" id="2147483654" r:id="R4319bf14b5584e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5346ae21cd45d2" /><Relationship Type="http://schemas.openxmlformats.org/officeDocument/2006/relationships/notesSlide" Target="/ppt/notesSlides/notesSlide1.xml" Id="Rc376295cfde44c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c1bacf83af4e2a" /><Relationship Type="http://schemas.openxmlformats.org/officeDocument/2006/relationships/notesSlide" Target="/ppt/notesSlides/notesSlide2.xml" Id="R9bcce3cb15f545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f4a47805954f4f" /><Relationship Type="http://schemas.openxmlformats.org/officeDocument/2006/relationships/notesSlide" Target="/ppt/notesSlides/notesSlide3.xml" Id="Ra87af74e41c145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6441c6183f4586" /><Relationship Type="http://schemas.openxmlformats.org/officeDocument/2006/relationships/notesSlide" Target="/ppt/notesSlides/notesSlide4.xml" Id="R17f553a4fb8e4d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e151cf21ef4d26" /><Relationship Type="http://schemas.openxmlformats.org/officeDocument/2006/relationships/notesSlide" Target="/ppt/notesSlides/notesSlide5.xml" Id="R9f111c2c8df844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af9069a0a84208" /><Relationship Type="http://schemas.openxmlformats.org/officeDocument/2006/relationships/notesSlide" Target="/ppt/notesSlides/notesSlide6.xml" Id="R3ea753eae7a84f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f5bd213ccc432f" /><Relationship Type="http://schemas.openxmlformats.org/officeDocument/2006/relationships/notesSlide" Target="/ppt/notesSlides/notesSlide7.xml" Id="Rce4645015a7a48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0D440A-C3E9-44B3-87EE-F859D072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8D0AF-4152-47FA-B0B4-9D666207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 spc="1">
                <a:solidFill>
                  <a:srgbClr val="A9DADC"/>
                </a:solidFill>
              </a:defRPr>
            </a:defPPr>
            <a:lvl1pPr>
              <a:defRPr sz="1125" b="1" spc="1">
                <a:solidFill>
                  <a:srgbClr val="A9DADC"/>
                </a:solidFill>
              </a:defRPr>
            </a:lvl1pPr>
            <a:lvl2pPr>
              <a:defRPr sz="1125" b="1" spc="1">
                <a:solidFill>
                  <a:srgbClr val="A9DADC"/>
                </a:solidFill>
              </a:defRPr>
            </a:lvl2pPr>
            <a:lvl3pPr>
              <a:defRPr sz="1125" b="1" spc="1">
                <a:solidFill>
                  <a:srgbClr val="A9DADC"/>
                </a:solidFill>
              </a:defRPr>
            </a:lvl3pPr>
            <a:lvl4pPr>
              <a:defRPr sz="1125" b="1" spc="1">
                <a:solidFill>
                  <a:srgbClr val="A9DADC"/>
                </a:solidFill>
              </a:defRPr>
            </a:lvl4pPr>
            <a:lvl5pPr>
              <a:defRPr sz="1125" b="1" spc="1">
                <a:solidFill>
                  <a:srgbClr val="A9DADC"/>
                </a:solidFill>
              </a:defRPr>
            </a:lvl5pPr>
            <a:lvl6pPr>
              <a:defRPr sz="1125" b="1" spc="1">
                <a:solidFill>
                  <a:srgbClr val="A9DADC"/>
                </a:solidFill>
              </a:defRPr>
            </a:lvl6pPr>
            <a:lvl7pPr>
              <a:defRPr sz="1125" b="1" spc="1">
                <a:solidFill>
                  <a:srgbClr val="A9DADC"/>
                </a:solidFill>
              </a:defRPr>
            </a:lvl7pPr>
            <a:lvl8pPr>
              <a:defRPr sz="1125" b="1" spc="1">
                <a:solidFill>
                  <a:srgbClr val="A9DADC"/>
                </a:solidFill>
              </a:defRPr>
            </a:lvl8pPr>
            <a:lvl9pPr>
              <a:defRPr sz="1125" b="1" spc="1">
                <a:solidFill>
                  <a:srgbClr val="A9DADC"/>
                </a:solidFill>
              </a:defRPr>
            </a:lvl9pPr>
          </a:lstStyle>
          <a:p xmlns:a="http://schemas.openxmlformats.org/drawingml/2006/main">
            <a:pPr>
              <a:defRPr sz="1125" b="1" spc="1">
                <a:solidFill>
                  <a:srgbClr val="A9DADC"/>
                </a:solidFill>
              </a:defRPr>
            </a:pPr>
            <a:r>
              <a:rPr sz="1125" b="1" spc="1">
                <a:solidFill>
                  <a:srgbClr val="A9DADC"/>
                </a:solidFill>
              </a:rPr>
              <a:t>RWANDA  |  EICV7 2023–24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C5E3A-DF02-4CB0-AF7A-FAECC20A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828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050" b="1">
                <a:solidFill>
                  <a:srgbClr val="FFFFFF"/>
                </a:solidFill>
              </a:defRPr>
            </a:defPPr>
            <a:lvl1pPr>
              <a:defRPr sz="4050" b="1">
                <a:solidFill>
                  <a:srgbClr val="FFFFFF"/>
                </a:solidFill>
              </a:defRPr>
            </a:lvl1pPr>
            <a:lvl2pPr>
              <a:defRPr sz="4050" b="1">
                <a:solidFill>
                  <a:srgbClr val="FFFFFF"/>
                </a:solidFill>
              </a:defRPr>
            </a:lvl2pPr>
            <a:lvl3pPr>
              <a:defRPr sz="4050" b="1">
                <a:solidFill>
                  <a:srgbClr val="FFFFFF"/>
                </a:solidFill>
              </a:defRPr>
            </a:lvl3pPr>
            <a:lvl4pPr>
              <a:defRPr sz="4050" b="1">
                <a:solidFill>
                  <a:srgbClr val="FFFFFF"/>
                </a:solidFill>
              </a:defRPr>
            </a:lvl4pPr>
            <a:lvl5pPr>
              <a:defRPr sz="4050" b="1">
                <a:solidFill>
                  <a:srgbClr val="FFFFFF"/>
                </a:solidFill>
              </a:defRPr>
            </a:lvl5pPr>
            <a:lvl6pPr>
              <a:defRPr sz="4050" b="1">
                <a:solidFill>
                  <a:srgbClr val="FFFFFF"/>
                </a:solidFill>
              </a:defRPr>
            </a:lvl6pPr>
            <a:lvl7pPr>
              <a:defRPr sz="4050" b="1">
                <a:solidFill>
                  <a:srgbClr val="FFFFFF"/>
                </a:solidFill>
              </a:defRPr>
            </a:lvl7pPr>
            <a:lvl8pPr>
              <a:defRPr sz="4050" b="1">
                <a:solidFill>
                  <a:srgbClr val="FFFFFF"/>
                </a:solidFill>
              </a:defRPr>
            </a:lvl8pPr>
            <a:lvl9pPr>
              <a:defRPr sz="4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Double exclusion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in Rwanda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4FE77-B55C-4E38-A686-E6720298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723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D9E4EA"/>
                </a:solidFill>
              </a:defRPr>
            </a:defPPr>
            <a:lvl1pPr>
              <a:defRPr sz="1875" b="0">
                <a:solidFill>
                  <a:srgbClr val="D9E4EA"/>
                </a:solidFill>
              </a:defRPr>
            </a:lvl1pPr>
            <a:lvl2pPr>
              <a:defRPr sz="1875" b="0">
                <a:solidFill>
                  <a:srgbClr val="D9E4EA"/>
                </a:solidFill>
              </a:defRPr>
            </a:lvl2pPr>
            <a:lvl3pPr>
              <a:defRPr sz="1875" b="0">
                <a:solidFill>
                  <a:srgbClr val="D9E4EA"/>
                </a:solidFill>
              </a:defRPr>
            </a:lvl3pPr>
            <a:lvl4pPr>
              <a:defRPr sz="1875" b="0">
                <a:solidFill>
                  <a:srgbClr val="D9E4EA"/>
                </a:solidFill>
              </a:defRPr>
            </a:lvl4pPr>
            <a:lvl5pPr>
              <a:defRPr sz="1875" b="0">
                <a:solidFill>
                  <a:srgbClr val="D9E4EA"/>
                </a:solidFill>
              </a:defRPr>
            </a:lvl5pPr>
            <a:lvl6pPr>
              <a:defRPr sz="1875" b="0">
                <a:solidFill>
                  <a:srgbClr val="D9E4EA"/>
                </a:solidFill>
              </a:defRPr>
            </a:lvl6pPr>
            <a:lvl7pPr>
              <a:defRPr sz="1875" b="0">
                <a:solidFill>
                  <a:srgbClr val="D9E4EA"/>
                </a:solidFill>
              </a:defRPr>
            </a:lvl7pPr>
            <a:lvl8pPr>
              <a:defRPr sz="1875" b="0">
                <a:solidFill>
                  <a:srgbClr val="D9E4EA"/>
                </a:solidFill>
              </a:defRPr>
            </a:lvl8pPr>
            <a:lvl9pPr>
              <a:defRPr sz="1875" b="0">
                <a:solidFill>
                  <a:srgbClr val="D9E4E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E4EA"/>
                </a:solidFill>
              </a:defRPr>
            </a:pPr>
            <a:r>
              <a:rPr sz="1875" b="0">
                <a:solidFill>
                  <a:srgbClr val="D9E4EA"/>
                </a:solidFill>
              </a:rPr>
              <a:t>Where poor households are missed by VUP and bank or mobile accounts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EF0F6-280D-4E3D-BE84-0208D753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561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33EF0-E943-4571-9363-B275FE3D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FFFFFF"/>
                </a:solidFill>
              </a:defRPr>
            </a:defPPr>
            <a:lvl1pPr>
              <a:defRPr sz="1500" b="0">
                <a:solidFill>
                  <a:srgbClr val="FFFFFF"/>
                </a:solidFill>
              </a:defRPr>
            </a:lvl1pPr>
            <a:lvl2pPr>
              <a:defRPr sz="1500" b="0">
                <a:solidFill>
                  <a:srgbClr val="FFFFFF"/>
                </a:solidFill>
              </a:defRPr>
            </a:lvl2pPr>
            <a:lvl3pPr>
              <a:defRPr sz="1500" b="0">
                <a:solidFill>
                  <a:srgbClr val="FFFFFF"/>
                </a:solidFill>
              </a:defRPr>
            </a:lvl3pPr>
            <a:lvl4pPr>
              <a:defRPr sz="1500" b="0">
                <a:solidFill>
                  <a:srgbClr val="FFFFFF"/>
                </a:solidFill>
              </a:defRPr>
            </a:lvl4pPr>
            <a:lvl5pPr>
              <a:defRPr sz="1500" b="0">
                <a:solidFill>
                  <a:srgbClr val="FFFFFF"/>
                </a:solidFill>
              </a:defRPr>
            </a:lvl5pPr>
            <a:lvl6pPr>
              <a:defRPr sz="1500" b="0">
                <a:solidFill>
                  <a:srgbClr val="FFFFFF"/>
                </a:solidFill>
              </a:defRPr>
            </a:lvl6pPr>
            <a:lvl7pPr>
              <a:defRPr sz="1500" b="0">
                <a:solidFill>
                  <a:srgbClr val="FFFFFF"/>
                </a:solidFill>
              </a:defRPr>
            </a:lvl7pPr>
            <a:lvl8pPr>
              <a:defRPr sz="1500" b="0">
                <a:solidFill>
                  <a:srgbClr val="FFFFFF"/>
                </a:solidFill>
              </a:defRPr>
            </a:lvl8pPr>
            <a:lvl9pPr>
              <a:defRPr sz="15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District evidence to guide local service reviews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A17056-7B12-40E8-BBD6-EBAB4D02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B8C8D2"/>
                </a:solidFill>
              </a:defRPr>
            </a:defPPr>
            <a:lvl1pPr>
              <a:defRPr sz="1050" b="0">
                <a:solidFill>
                  <a:srgbClr val="B8C8D2"/>
                </a:solidFill>
              </a:defRPr>
            </a:lvl1pPr>
            <a:lvl2pPr>
              <a:defRPr sz="1050" b="0">
                <a:solidFill>
                  <a:srgbClr val="B8C8D2"/>
                </a:solidFill>
              </a:defRPr>
            </a:lvl2pPr>
            <a:lvl3pPr>
              <a:defRPr sz="1050" b="0">
                <a:solidFill>
                  <a:srgbClr val="B8C8D2"/>
                </a:solidFill>
              </a:defRPr>
            </a:lvl3pPr>
            <a:lvl4pPr>
              <a:defRPr sz="1050" b="0">
                <a:solidFill>
                  <a:srgbClr val="B8C8D2"/>
                </a:solidFill>
              </a:defRPr>
            </a:lvl4pPr>
            <a:lvl5pPr>
              <a:defRPr sz="1050" b="0">
                <a:solidFill>
                  <a:srgbClr val="B8C8D2"/>
                </a:solidFill>
              </a:defRPr>
            </a:lvl5pPr>
            <a:lvl6pPr>
              <a:defRPr sz="1050" b="0">
                <a:solidFill>
                  <a:srgbClr val="B8C8D2"/>
                </a:solidFill>
              </a:defRPr>
            </a:lvl6pPr>
            <a:lvl7pPr>
              <a:defRPr sz="1050" b="0">
                <a:solidFill>
                  <a:srgbClr val="B8C8D2"/>
                </a:solidFill>
              </a:defRPr>
            </a:lvl7pPr>
            <a:lvl8pPr>
              <a:defRPr sz="1050" b="0">
                <a:solidFill>
                  <a:srgbClr val="B8C8D2"/>
                </a:solidFill>
              </a:defRPr>
            </a:lvl8pPr>
            <a:lvl9pPr>
              <a:defRPr sz="1050" b="0">
                <a:solidFill>
                  <a:srgbClr val="B8C8D2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8C8D2"/>
                </a:solidFill>
              </a:defRPr>
            </a:pPr>
            <a:r>
              <a:rPr sz="1050" b="0">
                <a:solidFill>
                  <a:srgbClr val="B8C8D2"/>
                </a:solidFill>
              </a:rPr>
              <a:t>Weighted analysis of EICV7 household microdata</a:t>
            </a:r>
          </a:p>
        </p:txBody>
      </p:sp>
    </p:spTree>
    <p:extLst>
      <p:ext uri="{BB962C8B-B14F-4D97-AF65-F5344CB8AC3E}">
        <p14:creationId xmlns:p14="http://schemas.microsoft.com/office/powerpoint/2010/main" val="16356241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5461C4-303F-4891-9ED0-133D4A80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B8B72-1484-4CD2-A252-3DD1ADE1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06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72B3A"/>
                </a:solidFill>
              </a:defRPr>
            </a:defPPr>
            <a:lvl1pPr>
              <a:defRPr sz="2400" b="1">
                <a:solidFill>
                  <a:srgbClr val="172B3A"/>
                </a:solidFill>
              </a:defRPr>
            </a:lvl1pPr>
            <a:lvl2pPr>
              <a:defRPr sz="2400" b="1">
                <a:solidFill>
                  <a:srgbClr val="172B3A"/>
                </a:solidFill>
              </a:defRPr>
            </a:lvl2pPr>
            <a:lvl3pPr>
              <a:defRPr sz="2400" b="1">
                <a:solidFill>
                  <a:srgbClr val="172B3A"/>
                </a:solidFill>
              </a:defRPr>
            </a:lvl3pPr>
            <a:lvl4pPr>
              <a:defRPr sz="2400" b="1">
                <a:solidFill>
                  <a:srgbClr val="172B3A"/>
                </a:solidFill>
              </a:defRPr>
            </a:lvl4pPr>
            <a:lvl5pPr>
              <a:defRPr sz="2400" b="1">
                <a:solidFill>
                  <a:srgbClr val="172B3A"/>
                </a:solidFill>
              </a:defRPr>
            </a:lvl5pPr>
            <a:lvl6pPr>
              <a:defRPr sz="2400" b="1">
                <a:solidFill>
                  <a:srgbClr val="172B3A"/>
                </a:solidFill>
              </a:defRPr>
            </a:lvl6pPr>
            <a:lvl7pPr>
              <a:defRPr sz="2400" b="1">
                <a:solidFill>
                  <a:srgbClr val="172B3A"/>
                </a:solidFill>
              </a:defRPr>
            </a:lvl7pPr>
            <a:lvl8pPr>
              <a:defRPr sz="2400" b="1">
                <a:solidFill>
                  <a:srgbClr val="172B3A"/>
                </a:solidFill>
              </a:defRPr>
            </a:lvl8pPr>
            <a:lvl9pPr>
              <a:defRPr sz="240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2B3A"/>
                </a:solidFill>
              </a:defRPr>
            </a:pPr>
            <a:r>
              <a:rPr sz="2400" b="1">
                <a:solidFill>
                  <a:srgbClr val="172B3A"/>
                </a:solidFill>
              </a:rPr>
              <a:t>Two service gaps can overlap in the same poor household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F7B06-BA8F-4491-BF5F-B35FB859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16B"/>
                </a:solidFill>
              </a:defRPr>
            </a:defPPr>
            <a:lvl1pPr>
              <a:defRPr sz="1125" b="0">
                <a:solidFill>
                  <a:srgbClr val="52616B"/>
                </a:solidFill>
              </a:defRPr>
            </a:lvl1pPr>
            <a:lvl2pPr>
              <a:defRPr sz="1125" b="0">
                <a:solidFill>
                  <a:srgbClr val="52616B"/>
                </a:solidFill>
              </a:defRPr>
            </a:lvl2pPr>
            <a:lvl3pPr>
              <a:defRPr sz="1125" b="0">
                <a:solidFill>
                  <a:srgbClr val="52616B"/>
                </a:solidFill>
              </a:defRPr>
            </a:lvl3pPr>
            <a:lvl4pPr>
              <a:defRPr sz="1125" b="0">
                <a:solidFill>
                  <a:srgbClr val="52616B"/>
                </a:solidFill>
              </a:defRPr>
            </a:lvl4pPr>
            <a:lvl5pPr>
              <a:defRPr sz="1125" b="0">
                <a:solidFill>
                  <a:srgbClr val="52616B"/>
                </a:solidFill>
              </a:defRPr>
            </a:lvl5pPr>
            <a:lvl6pPr>
              <a:defRPr sz="1125" b="0">
                <a:solidFill>
                  <a:srgbClr val="52616B"/>
                </a:solidFill>
              </a:defRPr>
            </a:lvl6pPr>
            <a:lvl7pPr>
              <a:defRPr sz="1125" b="0">
                <a:solidFill>
                  <a:srgbClr val="52616B"/>
                </a:solidFill>
              </a:defRPr>
            </a:lvl7pPr>
            <a:lvl8pPr>
              <a:defRPr sz="1125" b="0">
                <a:solidFill>
                  <a:srgbClr val="52616B"/>
                </a:solidFill>
              </a:defRPr>
            </a:lvl8pPr>
            <a:lvl9pPr>
              <a:defRPr sz="11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A district level signal for investigation—not a test of VUP eligibility.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4D15F-FF91-4BFB-905E-A3DAD9BF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7178D-18D4-4CE0-B5A1-B96F7CDF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788690"/>
                </a:solidFill>
              </a:defRPr>
            </a:defPPr>
            <a:lvl1pPr>
              <a:defRPr sz="825" b="0">
                <a:solidFill>
                  <a:srgbClr val="788690"/>
                </a:solidFill>
              </a:defRPr>
            </a:lvl1pPr>
            <a:lvl2pPr>
              <a:defRPr sz="825" b="0">
                <a:solidFill>
                  <a:srgbClr val="788690"/>
                </a:solidFill>
              </a:defRPr>
            </a:lvl2pPr>
            <a:lvl3pPr>
              <a:defRPr sz="825" b="0">
                <a:solidFill>
                  <a:srgbClr val="788690"/>
                </a:solidFill>
              </a:defRPr>
            </a:lvl3pPr>
            <a:lvl4pPr>
              <a:defRPr sz="825" b="0">
                <a:solidFill>
                  <a:srgbClr val="788690"/>
                </a:solidFill>
              </a:defRPr>
            </a:lvl4pPr>
            <a:lvl5pPr>
              <a:defRPr sz="825" b="0">
                <a:solidFill>
                  <a:srgbClr val="788690"/>
                </a:solidFill>
              </a:defRPr>
            </a:lvl5pPr>
            <a:lvl6pPr>
              <a:defRPr sz="825" b="0">
                <a:solidFill>
                  <a:srgbClr val="788690"/>
                </a:solidFill>
              </a:defRPr>
            </a:lvl6pPr>
            <a:lvl7pPr>
              <a:defRPr sz="825" b="0">
                <a:solidFill>
                  <a:srgbClr val="788690"/>
                </a:solidFill>
              </a:defRPr>
            </a:lvl7pPr>
            <a:lvl8pPr>
              <a:defRPr sz="825" b="0">
                <a:solidFill>
                  <a:srgbClr val="788690"/>
                </a:solidFill>
              </a:defRPr>
            </a:lvl8pPr>
            <a:lvl9pPr>
              <a:defRPr sz="825" b="0">
                <a:solidFill>
                  <a:srgbClr val="788690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788690"/>
                </a:solidFill>
              </a:defRPr>
            </a:pPr>
            <a:r>
              <a:rPr sz="825" b="0">
                <a:solidFill>
                  <a:srgbClr val="788690"/>
                </a:solidFill>
              </a:rPr>
              <a:t>EICV7 • Rwanda • descriptive district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C7DE9-C22D-4B65-95BA-121EB85E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788690"/>
                </a:solidFill>
              </a:defRPr>
            </a:defPPr>
            <a:lvl1pPr>
              <a:defRPr sz="825" b="1">
                <a:solidFill>
                  <a:srgbClr val="788690"/>
                </a:solidFill>
              </a:defRPr>
            </a:lvl1pPr>
            <a:lvl2pPr>
              <a:defRPr sz="825" b="1">
                <a:solidFill>
                  <a:srgbClr val="788690"/>
                </a:solidFill>
              </a:defRPr>
            </a:lvl2pPr>
            <a:lvl3pPr>
              <a:defRPr sz="825" b="1">
                <a:solidFill>
                  <a:srgbClr val="788690"/>
                </a:solidFill>
              </a:defRPr>
            </a:lvl3pPr>
            <a:lvl4pPr>
              <a:defRPr sz="825" b="1">
                <a:solidFill>
                  <a:srgbClr val="788690"/>
                </a:solidFill>
              </a:defRPr>
            </a:lvl4pPr>
            <a:lvl5pPr>
              <a:defRPr sz="825" b="1">
                <a:solidFill>
                  <a:srgbClr val="788690"/>
                </a:solidFill>
              </a:defRPr>
            </a:lvl5pPr>
            <a:lvl6pPr>
              <a:defRPr sz="825" b="1">
                <a:solidFill>
                  <a:srgbClr val="788690"/>
                </a:solidFill>
              </a:defRPr>
            </a:lvl6pPr>
            <a:lvl7pPr>
              <a:defRPr sz="825" b="1">
                <a:solidFill>
                  <a:srgbClr val="788690"/>
                </a:solidFill>
              </a:defRPr>
            </a:lvl7pPr>
            <a:lvl8pPr>
              <a:defRPr sz="825" b="1">
                <a:solidFill>
                  <a:srgbClr val="788690"/>
                </a:solidFill>
              </a:defRPr>
            </a:lvl8pPr>
            <a:lvl9pPr>
              <a:defRPr sz="825" b="1">
                <a:solidFill>
                  <a:srgbClr val="78869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788690"/>
                </a:solidFill>
              </a:defRPr>
            </a:pPr>
            <a:r>
              <a:rPr sz="825" b="1">
                <a:solidFill>
                  <a:srgbClr val="788690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261DD-6C9F-4064-BC79-8A2D993C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33147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1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DF23E-A483-4197-961D-C20ACF12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CE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8AA9A-EB8D-4D1C-9700-8E0C3481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9547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087E8B"/>
                </a:solidFill>
              </a:defRPr>
            </a:defPPr>
            <a:lvl1pPr>
              <a:defRPr sz="900" b="1">
                <a:solidFill>
                  <a:srgbClr val="087E8B"/>
                </a:solidFill>
              </a:defRPr>
            </a:lvl1pPr>
            <a:lvl2pPr>
              <a:defRPr sz="900" b="1">
                <a:solidFill>
                  <a:srgbClr val="087E8B"/>
                </a:solidFill>
              </a:defRPr>
            </a:lvl2pPr>
            <a:lvl3pPr>
              <a:defRPr sz="900" b="1">
                <a:solidFill>
                  <a:srgbClr val="087E8B"/>
                </a:solidFill>
              </a:defRPr>
            </a:lvl3pPr>
            <a:lvl4pPr>
              <a:defRPr sz="900" b="1">
                <a:solidFill>
                  <a:srgbClr val="087E8B"/>
                </a:solidFill>
              </a:defRPr>
            </a:lvl4pPr>
            <a:lvl5pPr>
              <a:defRPr sz="900" b="1">
                <a:solidFill>
                  <a:srgbClr val="087E8B"/>
                </a:solidFill>
              </a:defRPr>
            </a:lvl5pPr>
            <a:lvl6pPr>
              <a:defRPr sz="900" b="1">
                <a:solidFill>
                  <a:srgbClr val="087E8B"/>
                </a:solidFill>
              </a:defRPr>
            </a:lvl6pPr>
            <a:lvl7pPr>
              <a:defRPr sz="900" b="1">
                <a:solidFill>
                  <a:srgbClr val="087E8B"/>
                </a:solidFill>
              </a:defRPr>
            </a:lvl7pPr>
            <a:lvl8pPr>
              <a:defRPr sz="900" b="1">
                <a:solidFill>
                  <a:srgbClr val="087E8B"/>
                </a:solidFill>
              </a:defRPr>
            </a:lvl8pPr>
            <a:lvl9pPr>
              <a:defRPr sz="900" b="1">
                <a:solidFill>
                  <a:srgbClr val="087E8B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87E8B"/>
                </a:solidFill>
              </a:defRPr>
            </a:pPr>
            <a:r>
              <a:rPr sz="900" b="1">
                <a:solidFill>
                  <a:srgbClr val="087E8B"/>
                </a:solidFill>
              </a:rPr>
              <a:t>SOCIAL PROTECTION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3C37B-6C88-4E7B-A1AE-50DF2854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72B3A"/>
                </a:solidFill>
              </a:defRPr>
            </a:defPPr>
            <a:lvl1pPr>
              <a:defRPr sz="1800" b="1">
                <a:solidFill>
                  <a:srgbClr val="172B3A"/>
                </a:solidFill>
              </a:defRPr>
            </a:lvl1pPr>
            <a:lvl2pPr>
              <a:defRPr sz="1800" b="1">
                <a:solidFill>
                  <a:srgbClr val="172B3A"/>
                </a:solidFill>
              </a:defRPr>
            </a:lvl2pPr>
            <a:lvl3pPr>
              <a:defRPr sz="1800" b="1">
                <a:solidFill>
                  <a:srgbClr val="172B3A"/>
                </a:solidFill>
              </a:defRPr>
            </a:lvl3pPr>
            <a:lvl4pPr>
              <a:defRPr sz="1800" b="1">
                <a:solidFill>
                  <a:srgbClr val="172B3A"/>
                </a:solidFill>
              </a:defRPr>
            </a:lvl4pPr>
            <a:lvl5pPr>
              <a:defRPr sz="1800" b="1">
                <a:solidFill>
                  <a:srgbClr val="172B3A"/>
                </a:solidFill>
              </a:defRPr>
            </a:lvl5pPr>
            <a:lvl6pPr>
              <a:defRPr sz="1800" b="1">
                <a:solidFill>
                  <a:srgbClr val="172B3A"/>
                </a:solidFill>
              </a:defRPr>
            </a:lvl6pPr>
            <a:lvl7pPr>
              <a:defRPr sz="1800" b="1">
                <a:solidFill>
                  <a:srgbClr val="172B3A"/>
                </a:solidFill>
              </a:defRPr>
            </a:lvl7pPr>
            <a:lvl8pPr>
              <a:defRPr sz="1800" b="1">
                <a:solidFill>
                  <a:srgbClr val="172B3A"/>
                </a:solidFill>
              </a:defRPr>
            </a:lvl8pPr>
            <a:lvl9pPr>
              <a:defRPr sz="180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B3A"/>
                </a:solidFill>
              </a:defRPr>
            </a:pPr>
            <a:r>
              <a:rPr sz="1800" b="1">
                <a:solidFill>
                  <a:srgbClr val="172B3A"/>
                </a:solidFill>
              </a:rPr>
              <a:t>No observed VUP participation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D8F567-7E33-41D7-877E-EC4CBB23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2809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16B"/>
                </a:solidFill>
              </a:defRPr>
            </a:defPPr>
            <a:lvl1pPr>
              <a:defRPr sz="1275" b="0">
                <a:solidFill>
                  <a:srgbClr val="52616B"/>
                </a:solidFill>
              </a:defRPr>
            </a:lvl1pPr>
            <a:lvl2pPr>
              <a:defRPr sz="1275" b="0">
                <a:solidFill>
                  <a:srgbClr val="52616B"/>
                </a:solidFill>
              </a:defRPr>
            </a:lvl2pPr>
            <a:lvl3pPr>
              <a:defRPr sz="1275" b="0">
                <a:solidFill>
                  <a:srgbClr val="52616B"/>
                </a:solidFill>
              </a:defRPr>
            </a:lvl3pPr>
            <a:lvl4pPr>
              <a:defRPr sz="1275" b="0">
                <a:solidFill>
                  <a:srgbClr val="52616B"/>
                </a:solidFill>
              </a:defRPr>
            </a:lvl4pPr>
            <a:lvl5pPr>
              <a:defRPr sz="1275" b="0">
                <a:solidFill>
                  <a:srgbClr val="52616B"/>
                </a:solidFill>
              </a:defRPr>
            </a:lvl5pPr>
            <a:lvl6pPr>
              <a:defRPr sz="1275" b="0">
                <a:solidFill>
                  <a:srgbClr val="52616B"/>
                </a:solidFill>
              </a:defRPr>
            </a:lvl6pPr>
            <a:lvl7pPr>
              <a:defRPr sz="1275" b="0">
                <a:solidFill>
                  <a:srgbClr val="52616B"/>
                </a:solidFill>
              </a:defRPr>
            </a:lvl7pPr>
            <a:lvl8pPr>
              <a:defRPr sz="1275" b="0">
                <a:solidFill>
                  <a:srgbClr val="52616B"/>
                </a:solidFill>
              </a:defRPr>
            </a:lvl8pPr>
            <a:lvl9pPr>
              <a:defRPr sz="127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No positive participation flag across five EICV7 VUP modules.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A3D96D-0C3A-403B-BCB8-0B9E94AD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57350"/>
            <a:ext cx="33147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1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FA5ACD-1C1E-44D1-9CD2-BFDD207E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859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CE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60BBF0-F935-4691-8956-3AAC1B38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9547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17365D"/>
                </a:solidFill>
              </a:defRPr>
            </a:defPPr>
            <a:lvl1pPr>
              <a:defRPr sz="900" b="1">
                <a:solidFill>
                  <a:srgbClr val="17365D"/>
                </a:solidFill>
              </a:defRPr>
            </a:lvl1pPr>
            <a:lvl2pPr>
              <a:defRPr sz="900" b="1">
                <a:solidFill>
                  <a:srgbClr val="17365D"/>
                </a:solidFill>
              </a:defRPr>
            </a:lvl2pPr>
            <a:lvl3pPr>
              <a:defRPr sz="900" b="1">
                <a:solidFill>
                  <a:srgbClr val="17365D"/>
                </a:solidFill>
              </a:defRPr>
            </a:lvl3pPr>
            <a:lvl4pPr>
              <a:defRPr sz="900" b="1">
                <a:solidFill>
                  <a:srgbClr val="17365D"/>
                </a:solidFill>
              </a:defRPr>
            </a:lvl4pPr>
            <a:lvl5pPr>
              <a:defRPr sz="900" b="1">
                <a:solidFill>
                  <a:srgbClr val="17365D"/>
                </a:solidFill>
              </a:defRPr>
            </a:lvl5pPr>
            <a:lvl6pPr>
              <a:defRPr sz="900" b="1">
                <a:solidFill>
                  <a:srgbClr val="17365D"/>
                </a:solidFill>
              </a:defRPr>
            </a:lvl6pPr>
            <a:lvl7pPr>
              <a:defRPr sz="900" b="1">
                <a:solidFill>
                  <a:srgbClr val="17365D"/>
                </a:solidFill>
              </a:defRPr>
            </a:lvl7pPr>
            <a:lvl8pPr>
              <a:defRPr sz="900" b="1">
                <a:solidFill>
                  <a:srgbClr val="17365D"/>
                </a:solidFill>
              </a:defRPr>
            </a:lvl8pPr>
            <a:lvl9pPr>
              <a:defRPr sz="900" b="1">
                <a:solidFill>
                  <a:srgbClr val="17365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7365D"/>
                </a:solidFill>
              </a:defRPr>
            </a:pPr>
            <a:r>
              <a:rPr sz="900" b="1">
                <a:solidFill>
                  <a:srgbClr val="17365D"/>
                </a:solidFill>
              </a:rPr>
              <a:t>FINANCIAL 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8A1641-0F6D-4F9B-8E71-FF8340E0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72B3A"/>
                </a:solidFill>
              </a:defRPr>
            </a:defPPr>
            <a:lvl1pPr>
              <a:defRPr sz="1800" b="1">
                <a:solidFill>
                  <a:srgbClr val="172B3A"/>
                </a:solidFill>
              </a:defRPr>
            </a:lvl1pPr>
            <a:lvl2pPr>
              <a:defRPr sz="1800" b="1">
                <a:solidFill>
                  <a:srgbClr val="172B3A"/>
                </a:solidFill>
              </a:defRPr>
            </a:lvl2pPr>
            <a:lvl3pPr>
              <a:defRPr sz="1800" b="1">
                <a:solidFill>
                  <a:srgbClr val="172B3A"/>
                </a:solidFill>
              </a:defRPr>
            </a:lvl3pPr>
            <a:lvl4pPr>
              <a:defRPr sz="1800" b="1">
                <a:solidFill>
                  <a:srgbClr val="172B3A"/>
                </a:solidFill>
              </a:defRPr>
            </a:lvl4pPr>
            <a:lvl5pPr>
              <a:defRPr sz="1800" b="1">
                <a:solidFill>
                  <a:srgbClr val="172B3A"/>
                </a:solidFill>
              </a:defRPr>
            </a:lvl5pPr>
            <a:lvl6pPr>
              <a:defRPr sz="1800" b="1">
                <a:solidFill>
                  <a:srgbClr val="172B3A"/>
                </a:solidFill>
              </a:defRPr>
            </a:lvl6pPr>
            <a:lvl7pPr>
              <a:defRPr sz="1800" b="1">
                <a:solidFill>
                  <a:srgbClr val="172B3A"/>
                </a:solidFill>
              </a:defRPr>
            </a:lvl7pPr>
            <a:lvl8pPr>
              <a:defRPr sz="1800" b="1">
                <a:solidFill>
                  <a:srgbClr val="172B3A"/>
                </a:solidFill>
              </a:defRPr>
            </a:lvl8pPr>
            <a:lvl9pPr>
              <a:defRPr sz="180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B3A"/>
                </a:solidFill>
              </a:defRPr>
            </a:pPr>
            <a:r>
              <a:rPr sz="1800" b="1">
                <a:solidFill>
                  <a:srgbClr val="172B3A"/>
                </a:solidFill>
              </a:rPr>
              <a:t>No bank or mobile-money account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314E77-2596-402F-AB9A-45165283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00400"/>
            <a:ext cx="2809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16B"/>
                </a:solidFill>
              </a:defRPr>
            </a:defPPr>
            <a:lvl1pPr>
              <a:defRPr sz="1275" b="0">
                <a:solidFill>
                  <a:srgbClr val="52616B"/>
                </a:solidFill>
              </a:defRPr>
            </a:lvl1pPr>
            <a:lvl2pPr>
              <a:defRPr sz="1275" b="0">
                <a:solidFill>
                  <a:srgbClr val="52616B"/>
                </a:solidFill>
              </a:defRPr>
            </a:lvl2pPr>
            <a:lvl3pPr>
              <a:defRPr sz="1275" b="0">
                <a:solidFill>
                  <a:srgbClr val="52616B"/>
                </a:solidFill>
              </a:defRPr>
            </a:lvl3pPr>
            <a:lvl4pPr>
              <a:defRPr sz="1275" b="0">
                <a:solidFill>
                  <a:srgbClr val="52616B"/>
                </a:solidFill>
              </a:defRPr>
            </a:lvl4pPr>
            <a:lvl5pPr>
              <a:defRPr sz="1275" b="0">
                <a:solidFill>
                  <a:srgbClr val="52616B"/>
                </a:solidFill>
              </a:defRPr>
            </a:lvl5pPr>
            <a:lvl6pPr>
              <a:defRPr sz="1275" b="0">
                <a:solidFill>
                  <a:srgbClr val="52616B"/>
                </a:solidFill>
              </a:defRPr>
            </a:lvl6pPr>
            <a:lvl7pPr>
              <a:defRPr sz="1275" b="0">
                <a:solidFill>
                  <a:srgbClr val="52616B"/>
                </a:solidFill>
              </a:defRPr>
            </a:lvl7pPr>
            <a:lvl8pPr>
              <a:defRPr sz="1275" b="0">
                <a:solidFill>
                  <a:srgbClr val="52616B"/>
                </a:solidFill>
              </a:defRPr>
            </a:lvl8pPr>
            <a:lvl9pPr>
              <a:defRPr sz="127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No household member reports a bank or mobile-money account in the savings module.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5A1BB2-C548-4F2F-8B6B-7C39905B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57350"/>
            <a:ext cx="33147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1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12B21E-A210-4C77-9E23-AD14FABC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859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CE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91867F-F443-46F0-B7EC-5699B718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9547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E08A32"/>
                </a:solidFill>
              </a:defRPr>
            </a:defPPr>
            <a:lvl1pPr>
              <a:defRPr sz="900" b="1">
                <a:solidFill>
                  <a:srgbClr val="E08A32"/>
                </a:solidFill>
              </a:defRPr>
            </a:lvl1pPr>
            <a:lvl2pPr>
              <a:defRPr sz="900" b="1">
                <a:solidFill>
                  <a:srgbClr val="E08A32"/>
                </a:solidFill>
              </a:defRPr>
            </a:lvl2pPr>
            <a:lvl3pPr>
              <a:defRPr sz="900" b="1">
                <a:solidFill>
                  <a:srgbClr val="E08A32"/>
                </a:solidFill>
              </a:defRPr>
            </a:lvl3pPr>
            <a:lvl4pPr>
              <a:defRPr sz="900" b="1">
                <a:solidFill>
                  <a:srgbClr val="E08A32"/>
                </a:solidFill>
              </a:defRPr>
            </a:lvl4pPr>
            <a:lvl5pPr>
              <a:defRPr sz="900" b="1">
                <a:solidFill>
                  <a:srgbClr val="E08A32"/>
                </a:solidFill>
              </a:defRPr>
            </a:lvl5pPr>
            <a:lvl6pPr>
              <a:defRPr sz="900" b="1">
                <a:solidFill>
                  <a:srgbClr val="E08A32"/>
                </a:solidFill>
              </a:defRPr>
            </a:lvl6pPr>
            <a:lvl7pPr>
              <a:defRPr sz="900" b="1">
                <a:solidFill>
                  <a:srgbClr val="E08A32"/>
                </a:solidFill>
              </a:defRPr>
            </a:lvl7pPr>
            <a:lvl8pPr>
              <a:defRPr sz="900" b="1">
                <a:solidFill>
                  <a:srgbClr val="E08A32"/>
                </a:solidFill>
              </a:defRPr>
            </a:lvl8pPr>
            <a:lvl9pPr>
              <a:defRPr sz="900" b="1">
                <a:solidFill>
                  <a:srgbClr val="E08A32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08A32"/>
                </a:solidFill>
              </a:defRPr>
            </a:pPr>
            <a:r>
              <a:rPr sz="900" b="1">
                <a:solidFill>
                  <a:srgbClr val="E08A32"/>
                </a:solidFill>
              </a:rPr>
              <a:t>DOUBLE EXCLUSION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2BCF29-2FDD-477E-BE61-5CE895CA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72B3A"/>
                </a:solidFill>
              </a:defRPr>
            </a:defPPr>
            <a:lvl1pPr>
              <a:defRPr sz="1800" b="1">
                <a:solidFill>
                  <a:srgbClr val="172B3A"/>
                </a:solidFill>
              </a:defRPr>
            </a:lvl1pPr>
            <a:lvl2pPr>
              <a:defRPr sz="1800" b="1">
                <a:solidFill>
                  <a:srgbClr val="172B3A"/>
                </a:solidFill>
              </a:defRPr>
            </a:lvl2pPr>
            <a:lvl3pPr>
              <a:defRPr sz="1800" b="1">
                <a:solidFill>
                  <a:srgbClr val="172B3A"/>
                </a:solidFill>
              </a:defRPr>
            </a:lvl3pPr>
            <a:lvl4pPr>
              <a:defRPr sz="1800" b="1">
                <a:solidFill>
                  <a:srgbClr val="172B3A"/>
                </a:solidFill>
              </a:defRPr>
            </a:lvl4pPr>
            <a:lvl5pPr>
              <a:defRPr sz="1800" b="1">
                <a:solidFill>
                  <a:srgbClr val="172B3A"/>
                </a:solidFill>
              </a:defRPr>
            </a:lvl5pPr>
            <a:lvl6pPr>
              <a:defRPr sz="1800" b="1">
                <a:solidFill>
                  <a:srgbClr val="172B3A"/>
                </a:solidFill>
              </a:defRPr>
            </a:lvl6pPr>
            <a:lvl7pPr>
              <a:defRPr sz="1800" b="1">
                <a:solidFill>
                  <a:srgbClr val="172B3A"/>
                </a:solidFill>
              </a:defRPr>
            </a:lvl7pPr>
            <a:lvl8pPr>
              <a:defRPr sz="1800" b="1">
                <a:solidFill>
                  <a:srgbClr val="172B3A"/>
                </a:solidFill>
              </a:defRPr>
            </a:lvl8pPr>
            <a:lvl9pPr>
              <a:defRPr sz="180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B3A"/>
                </a:solidFill>
              </a:defRPr>
            </a:pPr>
            <a:r>
              <a:rPr sz="1800" b="1">
                <a:solidFill>
                  <a:srgbClr val="172B3A"/>
                </a:solidFill>
              </a:rPr>
              <a:t>Both gaps, among poor households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C90F4A-2D23-4950-BE5B-56E57DEE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00400"/>
            <a:ext cx="2809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16B"/>
                </a:solidFill>
              </a:defRPr>
            </a:defPPr>
            <a:lvl1pPr>
              <a:defRPr sz="1275" b="0">
                <a:solidFill>
                  <a:srgbClr val="52616B"/>
                </a:solidFill>
              </a:defRPr>
            </a:lvl1pPr>
            <a:lvl2pPr>
              <a:defRPr sz="1275" b="0">
                <a:solidFill>
                  <a:srgbClr val="52616B"/>
                </a:solidFill>
              </a:defRPr>
            </a:lvl2pPr>
            <a:lvl3pPr>
              <a:defRPr sz="1275" b="0">
                <a:solidFill>
                  <a:srgbClr val="52616B"/>
                </a:solidFill>
              </a:defRPr>
            </a:lvl3pPr>
            <a:lvl4pPr>
              <a:defRPr sz="1275" b="0">
                <a:solidFill>
                  <a:srgbClr val="52616B"/>
                </a:solidFill>
              </a:defRPr>
            </a:lvl4pPr>
            <a:lvl5pPr>
              <a:defRPr sz="1275" b="0">
                <a:solidFill>
                  <a:srgbClr val="52616B"/>
                </a:solidFill>
              </a:defRPr>
            </a:lvl5pPr>
            <a:lvl6pPr>
              <a:defRPr sz="1275" b="0">
                <a:solidFill>
                  <a:srgbClr val="52616B"/>
                </a:solidFill>
              </a:defRPr>
            </a:lvl6pPr>
            <a:lvl7pPr>
              <a:defRPr sz="1275" b="0">
                <a:solidFill>
                  <a:srgbClr val="52616B"/>
                </a:solidFill>
              </a:defRPr>
            </a:lvl7pPr>
            <a:lvl8pPr>
              <a:defRPr sz="1275" b="0">
                <a:solidFill>
                  <a:srgbClr val="52616B"/>
                </a:solidFill>
              </a:defRPr>
            </a:lvl8pPr>
            <a:lvl9pPr>
              <a:defRPr sz="127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A weighted descriptive measure of overlap, not proof of ineligibility or program failure.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CFE350-7B58-46CF-9397-4BBC659F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87E8B"/>
                </a:solidFill>
              </a:defRPr>
            </a:defPPr>
            <a:lvl1pPr>
              <a:defRPr sz="1275" b="1">
                <a:solidFill>
                  <a:srgbClr val="087E8B"/>
                </a:solidFill>
              </a:defRPr>
            </a:lvl1pPr>
            <a:lvl2pPr>
              <a:defRPr sz="1275" b="1">
                <a:solidFill>
                  <a:srgbClr val="087E8B"/>
                </a:solidFill>
              </a:defRPr>
            </a:lvl2pPr>
            <a:lvl3pPr>
              <a:defRPr sz="1275" b="1">
                <a:solidFill>
                  <a:srgbClr val="087E8B"/>
                </a:solidFill>
              </a:defRPr>
            </a:lvl3pPr>
            <a:lvl4pPr>
              <a:defRPr sz="1275" b="1">
                <a:solidFill>
                  <a:srgbClr val="087E8B"/>
                </a:solidFill>
              </a:defRPr>
            </a:lvl4pPr>
            <a:lvl5pPr>
              <a:defRPr sz="1275" b="1">
                <a:solidFill>
                  <a:srgbClr val="087E8B"/>
                </a:solidFill>
              </a:defRPr>
            </a:lvl5pPr>
            <a:lvl6pPr>
              <a:defRPr sz="1275" b="1">
                <a:solidFill>
                  <a:srgbClr val="087E8B"/>
                </a:solidFill>
              </a:defRPr>
            </a:lvl6pPr>
            <a:lvl7pPr>
              <a:defRPr sz="1275" b="1">
                <a:solidFill>
                  <a:srgbClr val="087E8B"/>
                </a:solidFill>
              </a:defRPr>
            </a:lvl7pPr>
            <a:lvl8pPr>
              <a:defRPr sz="1275" b="1">
                <a:solidFill>
                  <a:srgbClr val="087E8B"/>
                </a:solidFill>
              </a:defRPr>
            </a:lvl8pPr>
            <a:lvl9pPr>
              <a:defRPr sz="1275" b="1">
                <a:solidFill>
                  <a:srgbClr val="087E8B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87E8B"/>
                </a:solidFill>
              </a:defRPr>
            </a:pPr>
            <a:r>
              <a:rPr sz="1275" b="1">
                <a:solidFill>
                  <a:srgbClr val="087E8B"/>
                </a:solidFill>
              </a:rPr>
              <a:t>Question for decision makers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55E91D-7F80-44F5-9473-5059C3C4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2B3A"/>
                </a:solidFill>
              </a:defRPr>
            </a:defPPr>
            <a:lvl1pPr>
              <a:defRPr sz="1875" b="1">
                <a:solidFill>
                  <a:srgbClr val="172B3A"/>
                </a:solidFill>
              </a:defRPr>
            </a:lvl1pPr>
            <a:lvl2pPr>
              <a:defRPr sz="1875" b="1">
                <a:solidFill>
                  <a:srgbClr val="172B3A"/>
                </a:solidFill>
              </a:defRPr>
            </a:lvl2pPr>
            <a:lvl3pPr>
              <a:defRPr sz="1875" b="1">
                <a:solidFill>
                  <a:srgbClr val="172B3A"/>
                </a:solidFill>
              </a:defRPr>
            </a:lvl3pPr>
            <a:lvl4pPr>
              <a:defRPr sz="1875" b="1">
                <a:solidFill>
                  <a:srgbClr val="172B3A"/>
                </a:solidFill>
              </a:defRPr>
            </a:lvl4pPr>
            <a:lvl5pPr>
              <a:defRPr sz="1875" b="1">
                <a:solidFill>
                  <a:srgbClr val="172B3A"/>
                </a:solidFill>
              </a:defRPr>
            </a:lvl5pPr>
            <a:lvl6pPr>
              <a:defRPr sz="1875" b="1">
                <a:solidFill>
                  <a:srgbClr val="172B3A"/>
                </a:solidFill>
              </a:defRPr>
            </a:lvl6pPr>
            <a:lvl7pPr>
              <a:defRPr sz="1875" b="1">
                <a:solidFill>
                  <a:srgbClr val="172B3A"/>
                </a:solidFill>
              </a:defRPr>
            </a:lvl7pPr>
            <a:lvl8pPr>
              <a:defRPr sz="1875" b="1">
                <a:solidFill>
                  <a:srgbClr val="172B3A"/>
                </a:solidFill>
              </a:defRPr>
            </a:lvl8pPr>
            <a:lvl9pPr>
              <a:defRPr sz="1875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B3A"/>
                </a:solidFill>
              </a:defRPr>
            </a:pPr>
            <a:r>
              <a:rPr sz="1875" b="1">
                <a:solidFill>
                  <a:srgbClr val="172B3A"/>
                </a:solidFill>
              </a:rPr>
              <a:t>Where should local teams check whether service access is falling short, and what barriers should they investigate?</a:t>
            </a:r>
          </a:p>
        </p:txBody>
      </p:sp>
    </p:spTree>
    <p:extLst>
      <p:ext uri="{BB962C8B-B14F-4D97-AF65-F5344CB8AC3E}">
        <p14:creationId xmlns:p14="http://schemas.microsoft.com/office/powerpoint/2010/main" val="2175289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AF595C-01A2-46B8-9C1D-F6C17C65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AA236-2C81-43E7-AD0E-D0B24417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06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72B3A"/>
                </a:solidFill>
              </a:defRPr>
            </a:defPPr>
            <a:lvl1pPr>
              <a:defRPr sz="2400" b="1">
                <a:solidFill>
                  <a:srgbClr val="172B3A"/>
                </a:solidFill>
              </a:defRPr>
            </a:lvl1pPr>
            <a:lvl2pPr>
              <a:defRPr sz="2400" b="1">
                <a:solidFill>
                  <a:srgbClr val="172B3A"/>
                </a:solidFill>
              </a:defRPr>
            </a:lvl2pPr>
            <a:lvl3pPr>
              <a:defRPr sz="2400" b="1">
                <a:solidFill>
                  <a:srgbClr val="172B3A"/>
                </a:solidFill>
              </a:defRPr>
            </a:lvl3pPr>
            <a:lvl4pPr>
              <a:defRPr sz="2400" b="1">
                <a:solidFill>
                  <a:srgbClr val="172B3A"/>
                </a:solidFill>
              </a:defRPr>
            </a:lvl4pPr>
            <a:lvl5pPr>
              <a:defRPr sz="2400" b="1">
                <a:solidFill>
                  <a:srgbClr val="172B3A"/>
                </a:solidFill>
              </a:defRPr>
            </a:lvl5pPr>
            <a:lvl6pPr>
              <a:defRPr sz="2400" b="1">
                <a:solidFill>
                  <a:srgbClr val="172B3A"/>
                </a:solidFill>
              </a:defRPr>
            </a:lvl6pPr>
            <a:lvl7pPr>
              <a:defRPr sz="2400" b="1">
                <a:solidFill>
                  <a:srgbClr val="172B3A"/>
                </a:solidFill>
              </a:defRPr>
            </a:lvl7pPr>
            <a:lvl8pPr>
              <a:defRPr sz="2400" b="1">
                <a:solidFill>
                  <a:srgbClr val="172B3A"/>
                </a:solidFill>
              </a:defRPr>
            </a:lvl8pPr>
            <a:lvl9pPr>
              <a:defRPr sz="240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2B3A"/>
                </a:solidFill>
              </a:defRPr>
            </a:pPr>
            <a:r>
              <a:rPr sz="2400" b="1">
                <a:solidFill>
                  <a:srgbClr val="172B3A"/>
                </a:solidFill>
              </a:rPr>
              <a:t>EICV7 supports district level measurement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AE1B5A-FB52-4483-8DE5-EE865FB5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16B"/>
                </a:solidFill>
              </a:defRPr>
            </a:defPPr>
            <a:lvl1pPr>
              <a:defRPr sz="1125" b="0">
                <a:solidFill>
                  <a:srgbClr val="52616B"/>
                </a:solidFill>
              </a:defRPr>
            </a:lvl1pPr>
            <a:lvl2pPr>
              <a:defRPr sz="1125" b="0">
                <a:solidFill>
                  <a:srgbClr val="52616B"/>
                </a:solidFill>
              </a:defRPr>
            </a:lvl2pPr>
            <a:lvl3pPr>
              <a:defRPr sz="1125" b="0">
                <a:solidFill>
                  <a:srgbClr val="52616B"/>
                </a:solidFill>
              </a:defRPr>
            </a:lvl3pPr>
            <a:lvl4pPr>
              <a:defRPr sz="1125" b="0">
                <a:solidFill>
                  <a:srgbClr val="52616B"/>
                </a:solidFill>
              </a:defRPr>
            </a:lvl4pPr>
            <a:lvl5pPr>
              <a:defRPr sz="1125" b="0">
                <a:solidFill>
                  <a:srgbClr val="52616B"/>
                </a:solidFill>
              </a:defRPr>
            </a:lvl5pPr>
            <a:lvl6pPr>
              <a:defRPr sz="1125" b="0">
                <a:solidFill>
                  <a:srgbClr val="52616B"/>
                </a:solidFill>
              </a:defRPr>
            </a:lvl6pPr>
            <a:lvl7pPr>
              <a:defRPr sz="1125" b="0">
                <a:solidFill>
                  <a:srgbClr val="52616B"/>
                </a:solidFill>
              </a:defRPr>
            </a:lvl7pPr>
            <a:lvl8pPr>
              <a:defRPr sz="1125" b="0">
                <a:solidFill>
                  <a:srgbClr val="52616B"/>
                </a:solidFill>
              </a:defRPr>
            </a:lvl8pPr>
            <a:lvl9pPr>
              <a:defRPr sz="11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One nationally representative cross-section, summarized across Rwanda’s 30 districts.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DB0F5-199B-4547-8032-1912F60C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8EF45-DDAF-48A8-88D3-84AB8E1B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788690"/>
                </a:solidFill>
              </a:defRPr>
            </a:defPPr>
            <a:lvl1pPr>
              <a:defRPr sz="825" b="0">
                <a:solidFill>
                  <a:srgbClr val="788690"/>
                </a:solidFill>
              </a:defRPr>
            </a:lvl1pPr>
            <a:lvl2pPr>
              <a:defRPr sz="825" b="0">
                <a:solidFill>
                  <a:srgbClr val="788690"/>
                </a:solidFill>
              </a:defRPr>
            </a:lvl2pPr>
            <a:lvl3pPr>
              <a:defRPr sz="825" b="0">
                <a:solidFill>
                  <a:srgbClr val="788690"/>
                </a:solidFill>
              </a:defRPr>
            </a:lvl3pPr>
            <a:lvl4pPr>
              <a:defRPr sz="825" b="0">
                <a:solidFill>
                  <a:srgbClr val="788690"/>
                </a:solidFill>
              </a:defRPr>
            </a:lvl4pPr>
            <a:lvl5pPr>
              <a:defRPr sz="825" b="0">
                <a:solidFill>
                  <a:srgbClr val="788690"/>
                </a:solidFill>
              </a:defRPr>
            </a:lvl5pPr>
            <a:lvl6pPr>
              <a:defRPr sz="825" b="0">
                <a:solidFill>
                  <a:srgbClr val="788690"/>
                </a:solidFill>
              </a:defRPr>
            </a:lvl6pPr>
            <a:lvl7pPr>
              <a:defRPr sz="825" b="0">
                <a:solidFill>
                  <a:srgbClr val="788690"/>
                </a:solidFill>
              </a:defRPr>
            </a:lvl7pPr>
            <a:lvl8pPr>
              <a:defRPr sz="825" b="0">
                <a:solidFill>
                  <a:srgbClr val="788690"/>
                </a:solidFill>
              </a:defRPr>
            </a:lvl8pPr>
            <a:lvl9pPr>
              <a:defRPr sz="825" b="0">
                <a:solidFill>
                  <a:srgbClr val="788690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788690"/>
                </a:solidFill>
              </a:defRPr>
            </a:pPr>
            <a:r>
              <a:rPr sz="825" b="0">
                <a:solidFill>
                  <a:srgbClr val="788690"/>
                </a:solidFill>
              </a:rPr>
              <a:t>EICV7 • Rwanda • descriptive district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4159F-9AD9-4BAB-9C31-F5975F68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788690"/>
                </a:solidFill>
              </a:defRPr>
            </a:defPPr>
            <a:lvl1pPr>
              <a:defRPr sz="825" b="1">
                <a:solidFill>
                  <a:srgbClr val="788690"/>
                </a:solidFill>
              </a:defRPr>
            </a:lvl1pPr>
            <a:lvl2pPr>
              <a:defRPr sz="825" b="1">
                <a:solidFill>
                  <a:srgbClr val="788690"/>
                </a:solidFill>
              </a:defRPr>
            </a:lvl2pPr>
            <a:lvl3pPr>
              <a:defRPr sz="825" b="1">
                <a:solidFill>
                  <a:srgbClr val="788690"/>
                </a:solidFill>
              </a:defRPr>
            </a:lvl3pPr>
            <a:lvl4pPr>
              <a:defRPr sz="825" b="1">
                <a:solidFill>
                  <a:srgbClr val="788690"/>
                </a:solidFill>
              </a:defRPr>
            </a:lvl4pPr>
            <a:lvl5pPr>
              <a:defRPr sz="825" b="1">
                <a:solidFill>
                  <a:srgbClr val="788690"/>
                </a:solidFill>
              </a:defRPr>
            </a:lvl5pPr>
            <a:lvl6pPr>
              <a:defRPr sz="825" b="1">
                <a:solidFill>
                  <a:srgbClr val="788690"/>
                </a:solidFill>
              </a:defRPr>
            </a:lvl6pPr>
            <a:lvl7pPr>
              <a:defRPr sz="825" b="1">
                <a:solidFill>
                  <a:srgbClr val="788690"/>
                </a:solidFill>
              </a:defRPr>
            </a:lvl7pPr>
            <a:lvl8pPr>
              <a:defRPr sz="825" b="1">
                <a:solidFill>
                  <a:srgbClr val="788690"/>
                </a:solidFill>
              </a:defRPr>
            </a:lvl8pPr>
            <a:lvl9pPr>
              <a:defRPr sz="825" b="1">
                <a:solidFill>
                  <a:srgbClr val="78869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788690"/>
                </a:solidFill>
              </a:defRPr>
            </a:pPr>
            <a:r>
              <a:rPr sz="825" b="1">
                <a:solidFill>
                  <a:srgbClr val="788690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D7A347-C514-42E9-9AE5-F4D6C99E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30956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1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C76C5-942F-470B-8C78-735419BE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7365D"/>
                </a:solidFill>
              </a:defRPr>
            </a:defPPr>
            <a:lvl1pPr>
              <a:defRPr sz="2250" b="1">
                <a:solidFill>
                  <a:srgbClr val="17365D"/>
                </a:solidFill>
              </a:defRPr>
            </a:lvl1pPr>
            <a:lvl2pPr>
              <a:defRPr sz="2250" b="1">
                <a:solidFill>
                  <a:srgbClr val="17365D"/>
                </a:solidFill>
              </a:defRPr>
            </a:lvl2pPr>
            <a:lvl3pPr>
              <a:defRPr sz="2250" b="1">
                <a:solidFill>
                  <a:srgbClr val="17365D"/>
                </a:solidFill>
              </a:defRPr>
            </a:lvl3pPr>
            <a:lvl4pPr>
              <a:defRPr sz="2250" b="1">
                <a:solidFill>
                  <a:srgbClr val="17365D"/>
                </a:solidFill>
              </a:defRPr>
            </a:lvl4pPr>
            <a:lvl5pPr>
              <a:defRPr sz="2250" b="1">
                <a:solidFill>
                  <a:srgbClr val="17365D"/>
                </a:solidFill>
              </a:defRPr>
            </a:lvl5pPr>
            <a:lvl6pPr>
              <a:defRPr sz="2250" b="1">
                <a:solidFill>
                  <a:srgbClr val="17365D"/>
                </a:solidFill>
              </a:defRPr>
            </a:lvl6pPr>
            <a:lvl7pPr>
              <a:defRPr sz="2250" b="1">
                <a:solidFill>
                  <a:srgbClr val="17365D"/>
                </a:solidFill>
              </a:defRPr>
            </a:lvl7pPr>
            <a:lvl8pPr>
              <a:defRPr sz="2250" b="1">
                <a:solidFill>
                  <a:srgbClr val="17365D"/>
                </a:solidFill>
              </a:defRPr>
            </a:lvl8pPr>
            <a:lvl9pPr>
              <a:defRPr sz="2250" b="1">
                <a:solidFill>
                  <a:srgbClr val="17365D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365D"/>
                </a:solidFill>
              </a:defRPr>
            </a:pPr>
            <a:r>
              <a:rPr sz="2250" b="1">
                <a:solidFill>
                  <a:srgbClr val="17365D"/>
                </a:solidFill>
              </a:rPr>
              <a:t>15,054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46630-5DBA-4954-ACAD-76A4A507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95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16B"/>
                </a:solidFill>
              </a:defRPr>
            </a:defPPr>
            <a:lvl1pPr>
              <a:defRPr sz="1125" b="0">
                <a:solidFill>
                  <a:srgbClr val="52616B"/>
                </a:solidFill>
              </a:defRPr>
            </a:lvl1pPr>
            <a:lvl2pPr>
              <a:defRPr sz="1125" b="0">
                <a:solidFill>
                  <a:srgbClr val="52616B"/>
                </a:solidFill>
              </a:defRPr>
            </a:lvl2pPr>
            <a:lvl3pPr>
              <a:defRPr sz="1125" b="0">
                <a:solidFill>
                  <a:srgbClr val="52616B"/>
                </a:solidFill>
              </a:defRPr>
            </a:lvl3pPr>
            <a:lvl4pPr>
              <a:defRPr sz="1125" b="0">
                <a:solidFill>
                  <a:srgbClr val="52616B"/>
                </a:solidFill>
              </a:defRPr>
            </a:lvl4pPr>
            <a:lvl5pPr>
              <a:defRPr sz="1125" b="0">
                <a:solidFill>
                  <a:srgbClr val="52616B"/>
                </a:solidFill>
              </a:defRPr>
            </a:lvl5pPr>
            <a:lvl6pPr>
              <a:defRPr sz="1125" b="0">
                <a:solidFill>
                  <a:srgbClr val="52616B"/>
                </a:solidFill>
              </a:defRPr>
            </a:lvl6pPr>
            <a:lvl7pPr>
              <a:defRPr sz="1125" b="0">
                <a:solidFill>
                  <a:srgbClr val="52616B"/>
                </a:solidFill>
              </a:defRPr>
            </a:lvl7pPr>
            <a:lvl8pPr>
              <a:defRPr sz="1125" b="0">
                <a:solidFill>
                  <a:srgbClr val="52616B"/>
                </a:solidFill>
              </a:defRPr>
            </a:lvl8pPr>
            <a:lvl9pPr>
              <a:defRPr sz="11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households in 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4CB41-4FBC-436E-8ED9-9E85F861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504950"/>
            <a:ext cx="30956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1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C34140-7534-4234-857E-EB59DF25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57350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7365D"/>
                </a:solidFill>
              </a:defRPr>
            </a:defPPr>
            <a:lvl1pPr>
              <a:defRPr sz="2250" b="1">
                <a:solidFill>
                  <a:srgbClr val="17365D"/>
                </a:solidFill>
              </a:defRPr>
            </a:lvl1pPr>
            <a:lvl2pPr>
              <a:defRPr sz="2250" b="1">
                <a:solidFill>
                  <a:srgbClr val="17365D"/>
                </a:solidFill>
              </a:defRPr>
            </a:lvl2pPr>
            <a:lvl3pPr>
              <a:defRPr sz="2250" b="1">
                <a:solidFill>
                  <a:srgbClr val="17365D"/>
                </a:solidFill>
              </a:defRPr>
            </a:lvl3pPr>
            <a:lvl4pPr>
              <a:defRPr sz="2250" b="1">
                <a:solidFill>
                  <a:srgbClr val="17365D"/>
                </a:solidFill>
              </a:defRPr>
            </a:lvl4pPr>
            <a:lvl5pPr>
              <a:defRPr sz="2250" b="1">
                <a:solidFill>
                  <a:srgbClr val="17365D"/>
                </a:solidFill>
              </a:defRPr>
            </a:lvl5pPr>
            <a:lvl6pPr>
              <a:defRPr sz="2250" b="1">
                <a:solidFill>
                  <a:srgbClr val="17365D"/>
                </a:solidFill>
              </a:defRPr>
            </a:lvl6pPr>
            <a:lvl7pPr>
              <a:defRPr sz="2250" b="1">
                <a:solidFill>
                  <a:srgbClr val="17365D"/>
                </a:solidFill>
              </a:defRPr>
            </a:lvl7pPr>
            <a:lvl8pPr>
              <a:defRPr sz="2250" b="1">
                <a:solidFill>
                  <a:srgbClr val="17365D"/>
                </a:solidFill>
              </a:defRPr>
            </a:lvl8pPr>
            <a:lvl9pPr>
              <a:defRPr sz="2250" b="1">
                <a:solidFill>
                  <a:srgbClr val="17365D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365D"/>
                </a:solidFill>
              </a:defRPr>
            </a:pPr>
            <a:r>
              <a:rPr sz="2250" b="1">
                <a:solidFill>
                  <a:srgbClr val="17365D"/>
                </a:solidFill>
              </a:rPr>
              <a:t>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F5429F-C054-4198-9525-2B7CC2B1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95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16B"/>
                </a:solidFill>
              </a:defRPr>
            </a:defPPr>
            <a:lvl1pPr>
              <a:defRPr sz="1125" b="0">
                <a:solidFill>
                  <a:srgbClr val="52616B"/>
                </a:solidFill>
              </a:defRPr>
            </a:lvl1pPr>
            <a:lvl2pPr>
              <a:defRPr sz="1125" b="0">
                <a:solidFill>
                  <a:srgbClr val="52616B"/>
                </a:solidFill>
              </a:defRPr>
            </a:lvl2pPr>
            <a:lvl3pPr>
              <a:defRPr sz="1125" b="0">
                <a:solidFill>
                  <a:srgbClr val="52616B"/>
                </a:solidFill>
              </a:defRPr>
            </a:lvl3pPr>
            <a:lvl4pPr>
              <a:defRPr sz="1125" b="0">
                <a:solidFill>
                  <a:srgbClr val="52616B"/>
                </a:solidFill>
              </a:defRPr>
            </a:lvl4pPr>
            <a:lvl5pPr>
              <a:defRPr sz="1125" b="0">
                <a:solidFill>
                  <a:srgbClr val="52616B"/>
                </a:solidFill>
              </a:defRPr>
            </a:lvl5pPr>
            <a:lvl6pPr>
              <a:defRPr sz="1125" b="0">
                <a:solidFill>
                  <a:srgbClr val="52616B"/>
                </a:solidFill>
              </a:defRPr>
            </a:lvl6pPr>
            <a:lvl7pPr>
              <a:defRPr sz="1125" b="0">
                <a:solidFill>
                  <a:srgbClr val="52616B"/>
                </a:solidFill>
              </a:defRPr>
            </a:lvl7pPr>
            <a:lvl8pPr>
              <a:defRPr sz="1125" b="0">
                <a:solidFill>
                  <a:srgbClr val="52616B"/>
                </a:solidFill>
              </a:defRPr>
            </a:lvl8pPr>
            <a:lvl9pPr>
              <a:defRPr sz="11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districts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51964D-6590-4529-B3D2-C1D35ACC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0956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1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7E10AB-37AF-4616-89E0-8BA597E6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57350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7365D"/>
                </a:solidFill>
              </a:defRPr>
            </a:defPPr>
            <a:lvl1pPr>
              <a:defRPr sz="2250" b="1">
                <a:solidFill>
                  <a:srgbClr val="17365D"/>
                </a:solidFill>
              </a:defRPr>
            </a:lvl1pPr>
            <a:lvl2pPr>
              <a:defRPr sz="2250" b="1">
                <a:solidFill>
                  <a:srgbClr val="17365D"/>
                </a:solidFill>
              </a:defRPr>
            </a:lvl2pPr>
            <a:lvl3pPr>
              <a:defRPr sz="2250" b="1">
                <a:solidFill>
                  <a:srgbClr val="17365D"/>
                </a:solidFill>
              </a:defRPr>
            </a:lvl3pPr>
            <a:lvl4pPr>
              <a:defRPr sz="2250" b="1">
                <a:solidFill>
                  <a:srgbClr val="17365D"/>
                </a:solidFill>
              </a:defRPr>
            </a:lvl4pPr>
            <a:lvl5pPr>
              <a:defRPr sz="2250" b="1">
                <a:solidFill>
                  <a:srgbClr val="17365D"/>
                </a:solidFill>
              </a:defRPr>
            </a:lvl5pPr>
            <a:lvl6pPr>
              <a:defRPr sz="2250" b="1">
                <a:solidFill>
                  <a:srgbClr val="17365D"/>
                </a:solidFill>
              </a:defRPr>
            </a:lvl6pPr>
            <a:lvl7pPr>
              <a:defRPr sz="2250" b="1">
                <a:solidFill>
                  <a:srgbClr val="17365D"/>
                </a:solidFill>
              </a:defRPr>
            </a:lvl7pPr>
            <a:lvl8pPr>
              <a:defRPr sz="2250" b="1">
                <a:solidFill>
                  <a:srgbClr val="17365D"/>
                </a:solidFill>
              </a:defRPr>
            </a:lvl8pPr>
            <a:lvl9pPr>
              <a:defRPr sz="2250" b="1">
                <a:solidFill>
                  <a:srgbClr val="17365D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365D"/>
                </a:solidFill>
              </a:defRPr>
            </a:pPr>
            <a:r>
              <a:rPr sz="2250" b="1">
                <a:solidFill>
                  <a:srgbClr val="17365D"/>
                </a:solidFill>
              </a:rPr>
              <a:t>Oct 2023–Oct 2024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7F9AB5-B472-4D1F-8C26-4C91EAC0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095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16B"/>
                </a:solidFill>
              </a:defRPr>
            </a:defPPr>
            <a:lvl1pPr>
              <a:defRPr sz="1125" b="0">
                <a:solidFill>
                  <a:srgbClr val="52616B"/>
                </a:solidFill>
              </a:defRPr>
            </a:lvl1pPr>
            <a:lvl2pPr>
              <a:defRPr sz="1125" b="0">
                <a:solidFill>
                  <a:srgbClr val="52616B"/>
                </a:solidFill>
              </a:defRPr>
            </a:lvl2pPr>
            <a:lvl3pPr>
              <a:defRPr sz="1125" b="0">
                <a:solidFill>
                  <a:srgbClr val="52616B"/>
                </a:solidFill>
              </a:defRPr>
            </a:lvl3pPr>
            <a:lvl4pPr>
              <a:defRPr sz="1125" b="0">
                <a:solidFill>
                  <a:srgbClr val="52616B"/>
                </a:solidFill>
              </a:defRPr>
            </a:lvl4pPr>
            <a:lvl5pPr>
              <a:defRPr sz="1125" b="0">
                <a:solidFill>
                  <a:srgbClr val="52616B"/>
                </a:solidFill>
              </a:defRPr>
            </a:lvl5pPr>
            <a:lvl6pPr>
              <a:defRPr sz="1125" b="0">
                <a:solidFill>
                  <a:srgbClr val="52616B"/>
                </a:solidFill>
              </a:defRPr>
            </a:lvl6pPr>
            <a:lvl7pPr>
              <a:defRPr sz="1125" b="0">
                <a:solidFill>
                  <a:srgbClr val="52616B"/>
                </a:solidFill>
              </a:defRPr>
            </a:lvl7pPr>
            <a:lvl8pPr>
              <a:defRPr sz="1125" b="0">
                <a:solidFill>
                  <a:srgbClr val="52616B"/>
                </a:solidFill>
              </a:defRPr>
            </a:lvl8pPr>
            <a:lvl9pPr>
              <a:defRPr sz="11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fieldwork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62E9E4-2AA5-4376-A0A5-B22F3F2A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4E8DF8-281F-4641-9D8F-ADAB0E90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  <a:lvl1pPr>
              <a:defRPr sz="1650" b="1">
                <a:solidFill>
                  <a:srgbClr val="FFFFFF"/>
                </a:solidFill>
              </a:defRPr>
            </a:lvl1pPr>
            <a:lvl2pPr>
              <a:defRPr sz="1650" b="1">
                <a:solidFill>
                  <a:srgbClr val="FFFFFF"/>
                </a:solidFill>
              </a:defRPr>
            </a:lvl2pPr>
            <a:lvl3pPr>
              <a:defRPr sz="1650" b="1">
                <a:solidFill>
                  <a:srgbClr val="FFFFFF"/>
                </a:solidFill>
              </a:defRPr>
            </a:lvl3pPr>
            <a:lvl4pPr>
              <a:defRPr sz="1650" b="1">
                <a:solidFill>
                  <a:srgbClr val="FFFFFF"/>
                </a:solidFill>
              </a:defRPr>
            </a:lvl4pPr>
            <a:lvl5pPr>
              <a:defRPr sz="1650" b="1">
                <a:solidFill>
                  <a:srgbClr val="FFFFFF"/>
                </a:solidFill>
              </a:defRPr>
            </a:lvl5pPr>
            <a:lvl6pPr>
              <a:defRPr sz="1650" b="1">
                <a:solidFill>
                  <a:srgbClr val="FFFFFF"/>
                </a:solidFill>
              </a:defRPr>
            </a:lvl6pPr>
            <a:lvl7pPr>
              <a:defRPr sz="1650" b="1">
                <a:solidFill>
                  <a:srgbClr val="FFFFFF"/>
                </a:solidFill>
              </a:defRPr>
            </a:lvl7pPr>
            <a:lvl8pPr>
              <a:defRPr sz="1650" b="1">
                <a:solidFill>
                  <a:srgbClr val="FFFFFF"/>
                </a:solidFill>
              </a:defRPr>
            </a:lvl8pPr>
            <a:lvl9pPr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095213-4CE5-4B9D-B27D-77C08633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38475"/>
            <a:ext cx="1924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72B3A"/>
                </a:solidFill>
              </a:defRPr>
            </a:defPPr>
            <a:lvl1pPr>
              <a:defRPr sz="1500" b="1">
                <a:solidFill>
                  <a:srgbClr val="172B3A"/>
                </a:solidFill>
              </a:defRPr>
            </a:lvl1pPr>
            <a:lvl2pPr>
              <a:defRPr sz="1500" b="1">
                <a:solidFill>
                  <a:srgbClr val="172B3A"/>
                </a:solidFill>
              </a:defRPr>
            </a:lvl2pPr>
            <a:lvl3pPr>
              <a:defRPr sz="1500" b="1">
                <a:solidFill>
                  <a:srgbClr val="172B3A"/>
                </a:solidFill>
              </a:defRPr>
            </a:lvl3pPr>
            <a:lvl4pPr>
              <a:defRPr sz="1500" b="1">
                <a:solidFill>
                  <a:srgbClr val="172B3A"/>
                </a:solidFill>
              </a:defRPr>
            </a:lvl4pPr>
            <a:lvl5pPr>
              <a:defRPr sz="1500" b="1">
                <a:solidFill>
                  <a:srgbClr val="172B3A"/>
                </a:solidFill>
              </a:defRPr>
            </a:lvl5pPr>
            <a:lvl6pPr>
              <a:defRPr sz="1500" b="1">
                <a:solidFill>
                  <a:srgbClr val="172B3A"/>
                </a:solidFill>
              </a:defRPr>
            </a:lvl6pPr>
            <a:lvl7pPr>
              <a:defRPr sz="1500" b="1">
                <a:solidFill>
                  <a:srgbClr val="172B3A"/>
                </a:solidFill>
              </a:defRPr>
            </a:lvl7pPr>
            <a:lvl8pPr>
              <a:defRPr sz="1500" b="1">
                <a:solidFill>
                  <a:srgbClr val="172B3A"/>
                </a:solidFill>
              </a:defRPr>
            </a:lvl8pPr>
            <a:lvl9pPr>
              <a:defRPr sz="150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2B3A"/>
                </a:solidFill>
              </a:defRPr>
            </a:pPr>
            <a:r>
              <a:rPr sz="1500" b="1">
                <a:solidFill>
                  <a:srgbClr val="172B3A"/>
                </a:solidFill>
              </a:rPr>
              <a:t>Poverty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9BF5FB-A323-4CF5-AF03-311819E9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19425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16B"/>
                </a:solidFill>
              </a:defRPr>
            </a:defPPr>
            <a:lvl1pPr>
              <a:defRPr sz="1275" b="0">
                <a:solidFill>
                  <a:srgbClr val="52616B"/>
                </a:solidFill>
              </a:defRPr>
            </a:lvl1pPr>
            <a:lvl2pPr>
              <a:defRPr sz="1275" b="0">
                <a:solidFill>
                  <a:srgbClr val="52616B"/>
                </a:solidFill>
              </a:defRPr>
            </a:lvl2pPr>
            <a:lvl3pPr>
              <a:defRPr sz="1275" b="0">
                <a:solidFill>
                  <a:srgbClr val="52616B"/>
                </a:solidFill>
              </a:defRPr>
            </a:lvl3pPr>
            <a:lvl4pPr>
              <a:defRPr sz="1275" b="0">
                <a:solidFill>
                  <a:srgbClr val="52616B"/>
                </a:solidFill>
              </a:defRPr>
            </a:lvl4pPr>
            <a:lvl5pPr>
              <a:defRPr sz="1275" b="0">
                <a:solidFill>
                  <a:srgbClr val="52616B"/>
                </a:solidFill>
              </a:defRPr>
            </a:lvl5pPr>
            <a:lvl6pPr>
              <a:defRPr sz="1275" b="0">
                <a:solidFill>
                  <a:srgbClr val="52616B"/>
                </a:solidFill>
              </a:defRPr>
            </a:lvl6pPr>
            <a:lvl7pPr>
              <a:defRPr sz="1275" b="0">
                <a:solidFill>
                  <a:srgbClr val="52616B"/>
                </a:solidFill>
              </a:defRPr>
            </a:lvl7pPr>
            <a:lvl8pPr>
              <a:defRPr sz="1275" b="0">
                <a:solidFill>
                  <a:srgbClr val="52616B"/>
                </a:solidFill>
              </a:defRPr>
            </a:lvl8pPr>
            <a:lvl9pPr>
              <a:defRPr sz="127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Population-weighted district poverty rates; checked against NISR published district benchmarks.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56FB47-31BA-4D78-892E-F8A928FC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B4ED14-E37B-40ED-ABD7-15368BF2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  <a:lvl1pPr>
              <a:defRPr sz="1650" b="1">
                <a:solidFill>
                  <a:srgbClr val="FFFFFF"/>
                </a:solidFill>
              </a:defRPr>
            </a:lvl1pPr>
            <a:lvl2pPr>
              <a:defRPr sz="1650" b="1">
                <a:solidFill>
                  <a:srgbClr val="FFFFFF"/>
                </a:solidFill>
              </a:defRPr>
            </a:lvl2pPr>
            <a:lvl3pPr>
              <a:defRPr sz="1650" b="1">
                <a:solidFill>
                  <a:srgbClr val="FFFFFF"/>
                </a:solidFill>
              </a:defRPr>
            </a:lvl3pPr>
            <a:lvl4pPr>
              <a:defRPr sz="1650" b="1">
                <a:solidFill>
                  <a:srgbClr val="FFFFFF"/>
                </a:solidFill>
              </a:defRPr>
            </a:lvl4pPr>
            <a:lvl5pPr>
              <a:defRPr sz="1650" b="1">
                <a:solidFill>
                  <a:srgbClr val="FFFFFF"/>
                </a:solidFill>
              </a:defRPr>
            </a:lvl5pPr>
            <a:lvl6pPr>
              <a:defRPr sz="1650" b="1">
                <a:solidFill>
                  <a:srgbClr val="FFFFFF"/>
                </a:solidFill>
              </a:defRPr>
            </a:lvl6pPr>
            <a:lvl7pPr>
              <a:defRPr sz="1650" b="1">
                <a:solidFill>
                  <a:srgbClr val="FFFFFF"/>
                </a:solidFill>
              </a:defRPr>
            </a:lvl7pPr>
            <a:lvl8pPr>
              <a:defRPr sz="1650" b="1">
                <a:solidFill>
                  <a:srgbClr val="FFFFFF"/>
                </a:solidFill>
              </a:defRPr>
            </a:lvl8pPr>
            <a:lvl9pPr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CD5D3B-6BC7-4329-B6A1-9F98E6A3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76675"/>
            <a:ext cx="1924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72B3A"/>
                </a:solidFill>
              </a:defRPr>
            </a:defPPr>
            <a:lvl1pPr>
              <a:defRPr sz="1500" b="1">
                <a:solidFill>
                  <a:srgbClr val="172B3A"/>
                </a:solidFill>
              </a:defRPr>
            </a:lvl1pPr>
            <a:lvl2pPr>
              <a:defRPr sz="1500" b="1">
                <a:solidFill>
                  <a:srgbClr val="172B3A"/>
                </a:solidFill>
              </a:defRPr>
            </a:lvl2pPr>
            <a:lvl3pPr>
              <a:defRPr sz="1500" b="1">
                <a:solidFill>
                  <a:srgbClr val="172B3A"/>
                </a:solidFill>
              </a:defRPr>
            </a:lvl3pPr>
            <a:lvl4pPr>
              <a:defRPr sz="1500" b="1">
                <a:solidFill>
                  <a:srgbClr val="172B3A"/>
                </a:solidFill>
              </a:defRPr>
            </a:lvl4pPr>
            <a:lvl5pPr>
              <a:defRPr sz="1500" b="1">
                <a:solidFill>
                  <a:srgbClr val="172B3A"/>
                </a:solidFill>
              </a:defRPr>
            </a:lvl5pPr>
            <a:lvl6pPr>
              <a:defRPr sz="1500" b="1">
                <a:solidFill>
                  <a:srgbClr val="172B3A"/>
                </a:solidFill>
              </a:defRPr>
            </a:lvl6pPr>
            <a:lvl7pPr>
              <a:defRPr sz="1500" b="1">
                <a:solidFill>
                  <a:srgbClr val="172B3A"/>
                </a:solidFill>
              </a:defRPr>
            </a:lvl7pPr>
            <a:lvl8pPr>
              <a:defRPr sz="1500" b="1">
                <a:solidFill>
                  <a:srgbClr val="172B3A"/>
                </a:solidFill>
              </a:defRPr>
            </a:lvl8pPr>
            <a:lvl9pPr>
              <a:defRPr sz="150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2B3A"/>
                </a:solidFill>
              </a:defRPr>
            </a:pPr>
            <a:r>
              <a:rPr sz="1500" b="1">
                <a:solidFill>
                  <a:srgbClr val="172B3A"/>
                </a:solidFill>
              </a:rPr>
              <a:t>Coverage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ABBBBA-9691-4370-AD9B-38110DD7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57625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16B"/>
                </a:solidFill>
              </a:defRPr>
            </a:defPPr>
            <a:lvl1pPr>
              <a:defRPr sz="1275" b="0">
                <a:solidFill>
                  <a:srgbClr val="52616B"/>
                </a:solidFill>
              </a:defRPr>
            </a:lvl1pPr>
            <a:lvl2pPr>
              <a:defRPr sz="1275" b="0">
                <a:solidFill>
                  <a:srgbClr val="52616B"/>
                </a:solidFill>
              </a:defRPr>
            </a:lvl2pPr>
            <a:lvl3pPr>
              <a:defRPr sz="1275" b="0">
                <a:solidFill>
                  <a:srgbClr val="52616B"/>
                </a:solidFill>
              </a:defRPr>
            </a:lvl3pPr>
            <a:lvl4pPr>
              <a:defRPr sz="1275" b="0">
                <a:solidFill>
                  <a:srgbClr val="52616B"/>
                </a:solidFill>
              </a:defRPr>
            </a:lvl4pPr>
            <a:lvl5pPr>
              <a:defRPr sz="1275" b="0">
                <a:solidFill>
                  <a:srgbClr val="52616B"/>
                </a:solidFill>
              </a:defRPr>
            </a:lvl5pPr>
            <a:lvl6pPr>
              <a:defRPr sz="1275" b="0">
                <a:solidFill>
                  <a:srgbClr val="52616B"/>
                </a:solidFill>
              </a:defRPr>
            </a:lvl6pPr>
            <a:lvl7pPr>
              <a:defRPr sz="1275" b="0">
                <a:solidFill>
                  <a:srgbClr val="52616B"/>
                </a:solidFill>
              </a:defRPr>
            </a:lvl7pPr>
            <a:lvl8pPr>
              <a:defRPr sz="1275" b="0">
                <a:solidFill>
                  <a:srgbClr val="52616B"/>
                </a:solidFill>
              </a:defRPr>
            </a:lvl8pPr>
            <a:lvl9pPr>
              <a:defRPr sz="127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Household weights for VUP participation and account access among poor households.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3457F7-5535-4A1C-A0FF-8E5B2638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DAF317-3DAD-42C4-9A7C-75424FA4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  <a:lvl1pPr>
              <a:defRPr sz="1650" b="1">
                <a:solidFill>
                  <a:srgbClr val="FFFFFF"/>
                </a:solidFill>
              </a:defRPr>
            </a:lvl1pPr>
            <a:lvl2pPr>
              <a:defRPr sz="1650" b="1">
                <a:solidFill>
                  <a:srgbClr val="FFFFFF"/>
                </a:solidFill>
              </a:defRPr>
            </a:lvl2pPr>
            <a:lvl3pPr>
              <a:defRPr sz="1650" b="1">
                <a:solidFill>
                  <a:srgbClr val="FFFFFF"/>
                </a:solidFill>
              </a:defRPr>
            </a:lvl3pPr>
            <a:lvl4pPr>
              <a:defRPr sz="1650" b="1">
                <a:solidFill>
                  <a:srgbClr val="FFFFFF"/>
                </a:solidFill>
              </a:defRPr>
            </a:lvl4pPr>
            <a:lvl5pPr>
              <a:defRPr sz="1650" b="1">
                <a:solidFill>
                  <a:srgbClr val="FFFFFF"/>
                </a:solidFill>
              </a:defRPr>
            </a:lvl5pPr>
            <a:lvl6pPr>
              <a:defRPr sz="1650" b="1">
                <a:solidFill>
                  <a:srgbClr val="FFFFFF"/>
                </a:solidFill>
              </a:defRPr>
            </a:lvl6pPr>
            <a:lvl7pPr>
              <a:defRPr sz="1650" b="1">
                <a:solidFill>
                  <a:srgbClr val="FFFFFF"/>
                </a:solidFill>
              </a:defRPr>
            </a:lvl7pPr>
            <a:lvl8pPr>
              <a:defRPr sz="1650" b="1">
                <a:solidFill>
                  <a:srgbClr val="FFFFFF"/>
                </a:solidFill>
              </a:defRPr>
            </a:lvl8pPr>
            <a:lvl9pPr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73AE4E-DD18-4FFE-8607-59CD36DE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14875"/>
            <a:ext cx="1924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72B3A"/>
                </a:solidFill>
              </a:defRPr>
            </a:defPPr>
            <a:lvl1pPr>
              <a:defRPr sz="1500" b="1">
                <a:solidFill>
                  <a:srgbClr val="172B3A"/>
                </a:solidFill>
              </a:defRPr>
            </a:lvl1pPr>
            <a:lvl2pPr>
              <a:defRPr sz="1500" b="1">
                <a:solidFill>
                  <a:srgbClr val="172B3A"/>
                </a:solidFill>
              </a:defRPr>
            </a:lvl2pPr>
            <a:lvl3pPr>
              <a:defRPr sz="1500" b="1">
                <a:solidFill>
                  <a:srgbClr val="172B3A"/>
                </a:solidFill>
              </a:defRPr>
            </a:lvl3pPr>
            <a:lvl4pPr>
              <a:defRPr sz="1500" b="1">
                <a:solidFill>
                  <a:srgbClr val="172B3A"/>
                </a:solidFill>
              </a:defRPr>
            </a:lvl4pPr>
            <a:lvl5pPr>
              <a:defRPr sz="1500" b="1">
                <a:solidFill>
                  <a:srgbClr val="172B3A"/>
                </a:solidFill>
              </a:defRPr>
            </a:lvl5pPr>
            <a:lvl6pPr>
              <a:defRPr sz="1500" b="1">
                <a:solidFill>
                  <a:srgbClr val="172B3A"/>
                </a:solidFill>
              </a:defRPr>
            </a:lvl6pPr>
            <a:lvl7pPr>
              <a:defRPr sz="1500" b="1">
                <a:solidFill>
                  <a:srgbClr val="172B3A"/>
                </a:solidFill>
              </a:defRPr>
            </a:lvl7pPr>
            <a:lvl8pPr>
              <a:defRPr sz="1500" b="1">
                <a:solidFill>
                  <a:srgbClr val="172B3A"/>
                </a:solidFill>
              </a:defRPr>
            </a:lvl8pPr>
            <a:lvl9pPr>
              <a:defRPr sz="150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2B3A"/>
                </a:solidFill>
              </a:defRPr>
            </a:pPr>
            <a:r>
              <a:rPr sz="1500" b="1">
                <a:solidFill>
                  <a:srgbClr val="172B3A"/>
                </a:solidFill>
              </a:rPr>
              <a:t>Overlap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2CCD95-0BC5-4BFE-8CD4-80D74831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95825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16B"/>
                </a:solidFill>
              </a:defRPr>
            </a:defPPr>
            <a:lvl1pPr>
              <a:defRPr sz="1275" b="0">
                <a:solidFill>
                  <a:srgbClr val="52616B"/>
                </a:solidFill>
              </a:defRPr>
            </a:lvl1pPr>
            <a:lvl2pPr>
              <a:defRPr sz="1275" b="0">
                <a:solidFill>
                  <a:srgbClr val="52616B"/>
                </a:solidFill>
              </a:defRPr>
            </a:lvl2pPr>
            <a:lvl3pPr>
              <a:defRPr sz="1275" b="0">
                <a:solidFill>
                  <a:srgbClr val="52616B"/>
                </a:solidFill>
              </a:defRPr>
            </a:lvl3pPr>
            <a:lvl4pPr>
              <a:defRPr sz="1275" b="0">
                <a:solidFill>
                  <a:srgbClr val="52616B"/>
                </a:solidFill>
              </a:defRPr>
            </a:lvl4pPr>
            <a:lvl5pPr>
              <a:defRPr sz="1275" b="0">
                <a:solidFill>
                  <a:srgbClr val="52616B"/>
                </a:solidFill>
              </a:defRPr>
            </a:lvl5pPr>
            <a:lvl6pPr>
              <a:defRPr sz="1275" b="0">
                <a:solidFill>
                  <a:srgbClr val="52616B"/>
                </a:solidFill>
              </a:defRPr>
            </a:lvl6pPr>
            <a:lvl7pPr>
              <a:defRPr sz="1275" b="0">
                <a:solidFill>
                  <a:srgbClr val="52616B"/>
                </a:solidFill>
              </a:defRPr>
            </a:lvl7pPr>
            <a:lvl8pPr>
              <a:defRPr sz="1275" b="0">
                <a:solidFill>
                  <a:srgbClr val="52616B"/>
                </a:solidFill>
              </a:defRPr>
            </a:lvl8pPr>
            <a:lvl9pPr>
              <a:defRPr sz="127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Poor households with neither observed VUP participation nor a bank/mobile account.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EE47E0-94CA-431F-B226-02BD53BE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87E8B"/>
                </a:solidFill>
              </a:defRPr>
            </a:defPPr>
            <a:lvl1pPr>
              <a:defRPr sz="1050" b="1">
                <a:solidFill>
                  <a:srgbClr val="087E8B"/>
                </a:solidFill>
              </a:defRPr>
            </a:lvl1pPr>
            <a:lvl2pPr>
              <a:defRPr sz="1050" b="1">
                <a:solidFill>
                  <a:srgbClr val="087E8B"/>
                </a:solidFill>
              </a:defRPr>
            </a:lvl2pPr>
            <a:lvl3pPr>
              <a:defRPr sz="1050" b="1">
                <a:solidFill>
                  <a:srgbClr val="087E8B"/>
                </a:solidFill>
              </a:defRPr>
            </a:lvl3pPr>
            <a:lvl4pPr>
              <a:defRPr sz="1050" b="1">
                <a:solidFill>
                  <a:srgbClr val="087E8B"/>
                </a:solidFill>
              </a:defRPr>
            </a:lvl4pPr>
            <a:lvl5pPr>
              <a:defRPr sz="1050" b="1">
                <a:solidFill>
                  <a:srgbClr val="087E8B"/>
                </a:solidFill>
              </a:defRPr>
            </a:lvl5pPr>
            <a:lvl6pPr>
              <a:defRPr sz="1050" b="1">
                <a:solidFill>
                  <a:srgbClr val="087E8B"/>
                </a:solidFill>
              </a:defRPr>
            </a:lvl6pPr>
            <a:lvl7pPr>
              <a:defRPr sz="1050" b="1">
                <a:solidFill>
                  <a:srgbClr val="087E8B"/>
                </a:solidFill>
              </a:defRPr>
            </a:lvl7pPr>
            <a:lvl8pPr>
              <a:defRPr sz="1050" b="1">
                <a:solidFill>
                  <a:srgbClr val="087E8B"/>
                </a:solidFill>
              </a:defRPr>
            </a:lvl8pPr>
            <a:lvl9pPr>
              <a:defRPr sz="1050" b="1">
                <a:solidFill>
                  <a:srgbClr val="087E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E8B"/>
                </a:solidFill>
              </a:defRPr>
            </a:pPr>
            <a:r>
              <a:rPr sz="1050" b="1">
                <a:solidFill>
                  <a:srgbClr val="087E8B"/>
                </a:solidFill>
              </a:rPr>
              <a:t>Reliability check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59F87B-EDDB-4B65-8256-0F344D5E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292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72B3A"/>
                </a:solidFill>
              </a:defRPr>
            </a:defPPr>
            <a:lvl1pPr>
              <a:defRPr sz="1200" b="0">
                <a:solidFill>
                  <a:srgbClr val="172B3A"/>
                </a:solidFill>
              </a:defRPr>
            </a:lvl1pPr>
            <a:lvl2pPr>
              <a:defRPr sz="1200" b="0">
                <a:solidFill>
                  <a:srgbClr val="172B3A"/>
                </a:solidFill>
              </a:defRPr>
            </a:lvl2pPr>
            <a:lvl3pPr>
              <a:defRPr sz="1200" b="0">
                <a:solidFill>
                  <a:srgbClr val="172B3A"/>
                </a:solidFill>
              </a:defRPr>
            </a:lvl3pPr>
            <a:lvl4pPr>
              <a:defRPr sz="1200" b="0">
                <a:solidFill>
                  <a:srgbClr val="172B3A"/>
                </a:solidFill>
              </a:defRPr>
            </a:lvl4pPr>
            <a:lvl5pPr>
              <a:defRPr sz="1200" b="0">
                <a:solidFill>
                  <a:srgbClr val="172B3A"/>
                </a:solidFill>
              </a:defRPr>
            </a:lvl5pPr>
            <a:lvl6pPr>
              <a:defRPr sz="1200" b="0">
                <a:solidFill>
                  <a:srgbClr val="172B3A"/>
                </a:solidFill>
              </a:defRPr>
            </a:lvl6pPr>
            <a:lvl7pPr>
              <a:defRPr sz="1200" b="0">
                <a:solidFill>
                  <a:srgbClr val="172B3A"/>
                </a:solidFill>
              </a:defRPr>
            </a:lvl7pPr>
            <a:lvl8pPr>
              <a:defRPr sz="1200" b="0">
                <a:solidFill>
                  <a:srgbClr val="172B3A"/>
                </a:solidFill>
              </a:defRPr>
            </a:lvl8pPr>
            <a:lvl9pPr>
              <a:defRPr sz="12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B3A"/>
                </a:solidFill>
              </a:defRPr>
            </a:pPr>
            <a:r>
              <a:rPr sz="1200" b="0">
                <a:solidFill>
                  <a:srgbClr val="172B3A"/>
                </a:solidFill>
              </a:rPr>
              <a:t>District poverty estimates reproduce NISR’s published rates within 0.1 percentage point.</a:t>
            </a:r>
          </a:p>
        </p:txBody>
      </p:sp>
    </p:spTree>
    <p:extLst>
      <p:ext uri="{BB962C8B-B14F-4D97-AF65-F5344CB8AC3E}">
        <p14:creationId xmlns:p14="http://schemas.microsoft.com/office/powerpoint/2010/main" val="11753291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C73474-A64A-48B0-AC6D-2C945B78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E08D1-8961-4140-A21F-5D80158E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06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72B3A"/>
                </a:solidFill>
              </a:defRPr>
            </a:defPPr>
            <a:lvl1pPr>
              <a:defRPr sz="2400" b="1">
                <a:solidFill>
                  <a:srgbClr val="172B3A"/>
                </a:solidFill>
              </a:defRPr>
            </a:lvl1pPr>
            <a:lvl2pPr>
              <a:defRPr sz="2400" b="1">
                <a:solidFill>
                  <a:srgbClr val="172B3A"/>
                </a:solidFill>
              </a:defRPr>
            </a:lvl2pPr>
            <a:lvl3pPr>
              <a:defRPr sz="2400" b="1">
                <a:solidFill>
                  <a:srgbClr val="172B3A"/>
                </a:solidFill>
              </a:defRPr>
            </a:lvl3pPr>
            <a:lvl4pPr>
              <a:defRPr sz="2400" b="1">
                <a:solidFill>
                  <a:srgbClr val="172B3A"/>
                </a:solidFill>
              </a:defRPr>
            </a:lvl4pPr>
            <a:lvl5pPr>
              <a:defRPr sz="2400" b="1">
                <a:solidFill>
                  <a:srgbClr val="172B3A"/>
                </a:solidFill>
              </a:defRPr>
            </a:lvl5pPr>
            <a:lvl6pPr>
              <a:defRPr sz="2400" b="1">
                <a:solidFill>
                  <a:srgbClr val="172B3A"/>
                </a:solidFill>
              </a:defRPr>
            </a:lvl6pPr>
            <a:lvl7pPr>
              <a:defRPr sz="2400" b="1">
                <a:solidFill>
                  <a:srgbClr val="172B3A"/>
                </a:solidFill>
              </a:defRPr>
            </a:lvl7pPr>
            <a:lvl8pPr>
              <a:defRPr sz="2400" b="1">
                <a:solidFill>
                  <a:srgbClr val="172B3A"/>
                </a:solidFill>
              </a:defRPr>
            </a:lvl8pPr>
            <a:lvl9pPr>
              <a:defRPr sz="240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2B3A"/>
                </a:solidFill>
              </a:defRPr>
            </a:pPr>
            <a:r>
              <a:rPr sz="2400" b="1">
                <a:solidFill>
                  <a:srgbClr val="172B3A"/>
                </a:solidFill>
              </a:rPr>
              <a:t>About 1 in 6 poor households has neither observed service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6DC51-3B9E-4AE1-B81B-1FF8589A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16B"/>
                </a:solidFill>
              </a:defRPr>
            </a:defPPr>
            <a:lvl1pPr>
              <a:defRPr sz="1125" b="0">
                <a:solidFill>
                  <a:srgbClr val="52616B"/>
                </a:solidFill>
              </a:defRPr>
            </a:lvl1pPr>
            <a:lvl2pPr>
              <a:defRPr sz="1125" b="0">
                <a:solidFill>
                  <a:srgbClr val="52616B"/>
                </a:solidFill>
              </a:defRPr>
            </a:lvl2pPr>
            <a:lvl3pPr>
              <a:defRPr sz="1125" b="0">
                <a:solidFill>
                  <a:srgbClr val="52616B"/>
                </a:solidFill>
              </a:defRPr>
            </a:lvl3pPr>
            <a:lvl4pPr>
              <a:defRPr sz="1125" b="0">
                <a:solidFill>
                  <a:srgbClr val="52616B"/>
                </a:solidFill>
              </a:defRPr>
            </a:lvl4pPr>
            <a:lvl5pPr>
              <a:defRPr sz="1125" b="0">
                <a:solidFill>
                  <a:srgbClr val="52616B"/>
                </a:solidFill>
              </a:defRPr>
            </a:lvl5pPr>
            <a:lvl6pPr>
              <a:defRPr sz="1125" b="0">
                <a:solidFill>
                  <a:srgbClr val="52616B"/>
                </a:solidFill>
              </a:defRPr>
            </a:lvl6pPr>
            <a:lvl7pPr>
              <a:defRPr sz="1125" b="0">
                <a:solidFill>
                  <a:srgbClr val="52616B"/>
                </a:solidFill>
              </a:defRPr>
            </a:lvl7pPr>
            <a:lvl8pPr>
              <a:defRPr sz="1125" b="0">
                <a:solidFill>
                  <a:srgbClr val="52616B"/>
                </a:solidFill>
              </a:defRPr>
            </a:lvl8pPr>
            <a:lvl9pPr>
              <a:defRPr sz="11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National weighted estimates from EICV7; descriptive and self-reported.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8BBE8-F014-4982-8728-E76412FF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0CAF6-C15B-4DA3-A40A-E4E55A6E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788690"/>
                </a:solidFill>
              </a:defRPr>
            </a:defPPr>
            <a:lvl1pPr>
              <a:defRPr sz="825" b="0">
                <a:solidFill>
                  <a:srgbClr val="788690"/>
                </a:solidFill>
              </a:defRPr>
            </a:lvl1pPr>
            <a:lvl2pPr>
              <a:defRPr sz="825" b="0">
                <a:solidFill>
                  <a:srgbClr val="788690"/>
                </a:solidFill>
              </a:defRPr>
            </a:lvl2pPr>
            <a:lvl3pPr>
              <a:defRPr sz="825" b="0">
                <a:solidFill>
                  <a:srgbClr val="788690"/>
                </a:solidFill>
              </a:defRPr>
            </a:lvl3pPr>
            <a:lvl4pPr>
              <a:defRPr sz="825" b="0">
                <a:solidFill>
                  <a:srgbClr val="788690"/>
                </a:solidFill>
              </a:defRPr>
            </a:lvl4pPr>
            <a:lvl5pPr>
              <a:defRPr sz="825" b="0">
                <a:solidFill>
                  <a:srgbClr val="788690"/>
                </a:solidFill>
              </a:defRPr>
            </a:lvl5pPr>
            <a:lvl6pPr>
              <a:defRPr sz="825" b="0">
                <a:solidFill>
                  <a:srgbClr val="788690"/>
                </a:solidFill>
              </a:defRPr>
            </a:lvl6pPr>
            <a:lvl7pPr>
              <a:defRPr sz="825" b="0">
                <a:solidFill>
                  <a:srgbClr val="788690"/>
                </a:solidFill>
              </a:defRPr>
            </a:lvl7pPr>
            <a:lvl8pPr>
              <a:defRPr sz="825" b="0">
                <a:solidFill>
                  <a:srgbClr val="788690"/>
                </a:solidFill>
              </a:defRPr>
            </a:lvl8pPr>
            <a:lvl9pPr>
              <a:defRPr sz="825" b="0">
                <a:solidFill>
                  <a:srgbClr val="788690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788690"/>
                </a:solidFill>
              </a:defRPr>
            </a:pPr>
            <a:r>
              <a:rPr sz="825" b="0">
                <a:solidFill>
                  <a:srgbClr val="788690"/>
                </a:solidFill>
              </a:rPr>
              <a:t>EICV7 • Rwanda • descriptive district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A5A63-DC3B-445B-AEE4-4B9B0872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788690"/>
                </a:solidFill>
              </a:defRPr>
            </a:defPPr>
            <a:lvl1pPr>
              <a:defRPr sz="825" b="1">
                <a:solidFill>
                  <a:srgbClr val="788690"/>
                </a:solidFill>
              </a:defRPr>
            </a:lvl1pPr>
            <a:lvl2pPr>
              <a:defRPr sz="825" b="1">
                <a:solidFill>
                  <a:srgbClr val="788690"/>
                </a:solidFill>
              </a:defRPr>
            </a:lvl2pPr>
            <a:lvl3pPr>
              <a:defRPr sz="825" b="1">
                <a:solidFill>
                  <a:srgbClr val="788690"/>
                </a:solidFill>
              </a:defRPr>
            </a:lvl3pPr>
            <a:lvl4pPr>
              <a:defRPr sz="825" b="1">
                <a:solidFill>
                  <a:srgbClr val="788690"/>
                </a:solidFill>
              </a:defRPr>
            </a:lvl4pPr>
            <a:lvl5pPr>
              <a:defRPr sz="825" b="1">
                <a:solidFill>
                  <a:srgbClr val="788690"/>
                </a:solidFill>
              </a:defRPr>
            </a:lvl5pPr>
            <a:lvl6pPr>
              <a:defRPr sz="825" b="1">
                <a:solidFill>
                  <a:srgbClr val="788690"/>
                </a:solidFill>
              </a:defRPr>
            </a:lvl6pPr>
            <a:lvl7pPr>
              <a:defRPr sz="825" b="1">
                <a:solidFill>
                  <a:srgbClr val="788690"/>
                </a:solidFill>
              </a:defRPr>
            </a:lvl7pPr>
            <a:lvl8pPr>
              <a:defRPr sz="825" b="1">
                <a:solidFill>
                  <a:srgbClr val="788690"/>
                </a:solidFill>
              </a:defRPr>
            </a:lvl8pPr>
            <a:lvl9pPr>
              <a:defRPr sz="825" b="1">
                <a:solidFill>
                  <a:srgbClr val="78869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788690"/>
                </a:solidFill>
              </a:defRPr>
            </a:pPr>
            <a:r>
              <a:rPr sz="825" b="1">
                <a:solidFill>
                  <a:srgbClr val="788690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D6479-5A6C-4213-8C53-83D1BEF6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40957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1BB61-1EFD-4C8C-97EB-D33ECF73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5100" b="1">
                <a:solidFill>
                  <a:srgbClr val="FFFFFF"/>
                </a:solidFill>
              </a:defRPr>
            </a:defPPr>
            <a:lvl1pPr>
              <a:defRPr sz="5100" b="1">
                <a:solidFill>
                  <a:srgbClr val="FFFFFF"/>
                </a:solidFill>
              </a:defRPr>
            </a:lvl1pPr>
            <a:lvl2pPr>
              <a:defRPr sz="5100" b="1">
                <a:solidFill>
                  <a:srgbClr val="FFFFFF"/>
                </a:solidFill>
              </a:defRPr>
            </a:lvl2pPr>
            <a:lvl3pPr>
              <a:defRPr sz="5100" b="1">
                <a:solidFill>
                  <a:srgbClr val="FFFFFF"/>
                </a:solidFill>
              </a:defRPr>
            </a:lvl3pPr>
            <a:lvl4pPr>
              <a:defRPr sz="5100" b="1">
                <a:solidFill>
                  <a:srgbClr val="FFFFFF"/>
                </a:solidFill>
              </a:defRPr>
            </a:lvl4pPr>
            <a:lvl5pPr>
              <a:defRPr sz="5100" b="1">
                <a:solidFill>
                  <a:srgbClr val="FFFFFF"/>
                </a:solidFill>
              </a:defRPr>
            </a:lvl5pPr>
            <a:lvl6pPr>
              <a:defRPr sz="5100" b="1">
                <a:solidFill>
                  <a:srgbClr val="FFFFFF"/>
                </a:solidFill>
              </a:defRPr>
            </a:lvl6pPr>
            <a:lvl7pPr>
              <a:defRPr sz="5100" b="1">
                <a:solidFill>
                  <a:srgbClr val="FFFFFF"/>
                </a:solidFill>
              </a:defRPr>
            </a:lvl7pPr>
            <a:lvl8pPr>
              <a:defRPr sz="5100" b="1">
                <a:solidFill>
                  <a:srgbClr val="FFFFFF"/>
                </a:solidFill>
              </a:defRPr>
            </a:lvl8pPr>
            <a:lvl9pPr>
              <a:defRPr sz="5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17.5%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2219D-9052-4869-A921-450C1DC2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99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  <a:lvl1pPr>
              <a:defRPr sz="1800" b="1">
                <a:solidFill>
                  <a:srgbClr val="FFFFFF"/>
                </a:solidFill>
              </a:defRPr>
            </a:lvl1pPr>
            <a:lvl2pPr>
              <a:defRPr sz="1800" b="1">
                <a:solidFill>
                  <a:srgbClr val="FFFFFF"/>
                </a:solidFill>
              </a:defRPr>
            </a:lvl2pPr>
            <a:lvl3pPr>
              <a:defRPr sz="1800" b="1">
                <a:solidFill>
                  <a:srgbClr val="FFFFFF"/>
                </a:solidFill>
              </a:defRPr>
            </a:lvl3pPr>
            <a:lvl4pPr>
              <a:defRPr sz="1800" b="1">
                <a:solidFill>
                  <a:srgbClr val="FFFFFF"/>
                </a:solidFill>
              </a:defRPr>
            </a:lvl4pPr>
            <a:lvl5pPr>
              <a:defRPr sz="1800" b="1">
                <a:solidFill>
                  <a:srgbClr val="FFFFFF"/>
                </a:solidFill>
              </a:defRPr>
            </a:lvl5pPr>
            <a:lvl6pPr>
              <a:defRPr sz="1800" b="1">
                <a:solidFill>
                  <a:srgbClr val="FFFFFF"/>
                </a:solidFill>
              </a:defRPr>
            </a:lvl6pPr>
            <a:lvl7pPr>
              <a:defRPr sz="1800" b="1">
                <a:solidFill>
                  <a:srgbClr val="FFFFFF"/>
                </a:solidFill>
              </a:defRPr>
            </a:lvl7pPr>
            <a:lvl8pPr>
              <a:defRPr sz="1800" b="1">
                <a:solidFill>
                  <a:srgbClr val="FFFFFF"/>
                </a:solidFill>
              </a:defRPr>
            </a:lvl8pPr>
            <a:lvl9pPr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of poor households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C8E41D-F9FD-4C11-BC61-CC8825A6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33775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D6E1E8"/>
                </a:solidFill>
              </a:defRPr>
            </a:defPPr>
            <a:lvl1pPr>
              <a:defRPr sz="1425" b="0">
                <a:solidFill>
                  <a:srgbClr val="D6E1E8"/>
                </a:solidFill>
              </a:defRPr>
            </a:lvl1pPr>
            <a:lvl2pPr>
              <a:defRPr sz="1425" b="0">
                <a:solidFill>
                  <a:srgbClr val="D6E1E8"/>
                </a:solidFill>
              </a:defRPr>
            </a:lvl2pPr>
            <a:lvl3pPr>
              <a:defRPr sz="1425" b="0">
                <a:solidFill>
                  <a:srgbClr val="D6E1E8"/>
                </a:solidFill>
              </a:defRPr>
            </a:lvl3pPr>
            <a:lvl4pPr>
              <a:defRPr sz="1425" b="0">
                <a:solidFill>
                  <a:srgbClr val="D6E1E8"/>
                </a:solidFill>
              </a:defRPr>
            </a:lvl4pPr>
            <a:lvl5pPr>
              <a:defRPr sz="1425" b="0">
                <a:solidFill>
                  <a:srgbClr val="D6E1E8"/>
                </a:solidFill>
              </a:defRPr>
            </a:lvl5pPr>
            <a:lvl6pPr>
              <a:defRPr sz="1425" b="0">
                <a:solidFill>
                  <a:srgbClr val="D6E1E8"/>
                </a:solidFill>
              </a:defRPr>
            </a:lvl6pPr>
            <a:lvl7pPr>
              <a:defRPr sz="1425" b="0">
                <a:solidFill>
                  <a:srgbClr val="D6E1E8"/>
                </a:solidFill>
              </a:defRPr>
            </a:lvl7pPr>
            <a:lvl8pPr>
              <a:defRPr sz="1425" b="0">
                <a:solidFill>
                  <a:srgbClr val="D6E1E8"/>
                </a:solidFill>
              </a:defRPr>
            </a:lvl8pPr>
            <a:lvl9pPr>
              <a:defRPr sz="1425" b="0">
                <a:solidFill>
                  <a:srgbClr val="D6E1E8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6E1E8"/>
                </a:solidFill>
              </a:defRPr>
            </a:pPr>
            <a:r>
              <a:rPr sz="1425" b="0">
                <a:solidFill>
                  <a:srgbClr val="D6E1E8"/>
                </a:solidFill>
              </a:rPr>
              <a:t>estimated to have neither observed VUP participation nor bank/mobile account access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5D325-5C8D-4F61-A1DF-333D3AEE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A9DADC"/>
                </a:solidFill>
              </a:defRPr>
            </a:defPPr>
            <a:lvl1pPr>
              <a:defRPr sz="1350" b="1">
                <a:solidFill>
                  <a:srgbClr val="A9DADC"/>
                </a:solidFill>
              </a:defRPr>
            </a:lvl1pPr>
            <a:lvl2pPr>
              <a:defRPr sz="1350" b="1">
                <a:solidFill>
                  <a:srgbClr val="A9DADC"/>
                </a:solidFill>
              </a:defRPr>
            </a:lvl2pPr>
            <a:lvl3pPr>
              <a:defRPr sz="1350" b="1">
                <a:solidFill>
                  <a:srgbClr val="A9DADC"/>
                </a:solidFill>
              </a:defRPr>
            </a:lvl3pPr>
            <a:lvl4pPr>
              <a:defRPr sz="1350" b="1">
                <a:solidFill>
                  <a:srgbClr val="A9DADC"/>
                </a:solidFill>
              </a:defRPr>
            </a:lvl4pPr>
            <a:lvl5pPr>
              <a:defRPr sz="1350" b="1">
                <a:solidFill>
                  <a:srgbClr val="A9DADC"/>
                </a:solidFill>
              </a:defRPr>
            </a:lvl5pPr>
            <a:lvl6pPr>
              <a:defRPr sz="1350" b="1">
                <a:solidFill>
                  <a:srgbClr val="A9DADC"/>
                </a:solidFill>
              </a:defRPr>
            </a:lvl6pPr>
            <a:lvl7pPr>
              <a:defRPr sz="1350" b="1">
                <a:solidFill>
                  <a:srgbClr val="A9DADC"/>
                </a:solidFill>
              </a:defRPr>
            </a:lvl7pPr>
            <a:lvl8pPr>
              <a:defRPr sz="1350" b="1">
                <a:solidFill>
                  <a:srgbClr val="A9DADC"/>
                </a:solidFill>
              </a:defRPr>
            </a:lvl8pPr>
            <a:lvl9pPr>
              <a:defRPr sz="1350" b="1">
                <a:solidFill>
                  <a:srgbClr val="A9DADC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9DADC"/>
                </a:solidFill>
              </a:defRPr>
            </a:pPr>
            <a:r>
              <a:rPr sz="1350" b="1">
                <a:solidFill>
                  <a:srgbClr val="A9DADC"/>
                </a:solidFill>
              </a:rPr>
              <a:t>≈134,600 poor households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9512C7-519A-4AFB-93E4-0539C838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14500"/>
            <a:ext cx="5905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1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60AAC6-4873-4C04-95E6-B40C736B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847850"/>
            <a:ext cx="166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087E8B"/>
                </a:solidFill>
              </a:defRPr>
            </a:defPPr>
            <a:lvl1pPr>
              <a:defRPr sz="2850" b="1">
                <a:solidFill>
                  <a:srgbClr val="087E8B"/>
                </a:solidFill>
              </a:defRPr>
            </a:lvl1pPr>
            <a:lvl2pPr>
              <a:defRPr sz="2850" b="1">
                <a:solidFill>
                  <a:srgbClr val="087E8B"/>
                </a:solidFill>
              </a:defRPr>
            </a:lvl2pPr>
            <a:lvl3pPr>
              <a:defRPr sz="2850" b="1">
                <a:solidFill>
                  <a:srgbClr val="087E8B"/>
                </a:solidFill>
              </a:defRPr>
            </a:lvl3pPr>
            <a:lvl4pPr>
              <a:defRPr sz="2850" b="1">
                <a:solidFill>
                  <a:srgbClr val="087E8B"/>
                </a:solidFill>
              </a:defRPr>
            </a:lvl4pPr>
            <a:lvl5pPr>
              <a:defRPr sz="2850" b="1">
                <a:solidFill>
                  <a:srgbClr val="087E8B"/>
                </a:solidFill>
              </a:defRPr>
            </a:lvl5pPr>
            <a:lvl6pPr>
              <a:defRPr sz="2850" b="1">
                <a:solidFill>
                  <a:srgbClr val="087E8B"/>
                </a:solidFill>
              </a:defRPr>
            </a:lvl6pPr>
            <a:lvl7pPr>
              <a:defRPr sz="2850" b="1">
                <a:solidFill>
                  <a:srgbClr val="087E8B"/>
                </a:solidFill>
              </a:defRPr>
            </a:lvl7pPr>
            <a:lvl8pPr>
              <a:defRPr sz="2850" b="1">
                <a:solidFill>
                  <a:srgbClr val="087E8B"/>
                </a:solidFill>
              </a:defRPr>
            </a:lvl8pPr>
            <a:lvl9pPr>
              <a:defRPr sz="2850" b="1">
                <a:solidFill>
                  <a:srgbClr val="087E8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87E8B"/>
                </a:solidFill>
              </a:defRPr>
            </a:pPr>
            <a:r>
              <a:rPr sz="2850" b="1">
                <a:solidFill>
                  <a:srgbClr val="087E8B"/>
                </a:solidFill>
              </a:rPr>
              <a:t>27.4%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EB2223-8FC5-4F69-BB28-549C18C5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85950"/>
            <a:ext cx="333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72B3A"/>
                </a:solidFill>
              </a:defRPr>
            </a:defPPr>
            <a:lvl1pPr>
              <a:defRPr sz="1500" b="1">
                <a:solidFill>
                  <a:srgbClr val="172B3A"/>
                </a:solidFill>
              </a:defRPr>
            </a:lvl1pPr>
            <a:lvl2pPr>
              <a:defRPr sz="1500" b="1">
                <a:solidFill>
                  <a:srgbClr val="172B3A"/>
                </a:solidFill>
              </a:defRPr>
            </a:lvl2pPr>
            <a:lvl3pPr>
              <a:defRPr sz="1500" b="1">
                <a:solidFill>
                  <a:srgbClr val="172B3A"/>
                </a:solidFill>
              </a:defRPr>
            </a:lvl3pPr>
            <a:lvl4pPr>
              <a:defRPr sz="1500" b="1">
                <a:solidFill>
                  <a:srgbClr val="172B3A"/>
                </a:solidFill>
              </a:defRPr>
            </a:lvl4pPr>
            <a:lvl5pPr>
              <a:defRPr sz="1500" b="1">
                <a:solidFill>
                  <a:srgbClr val="172B3A"/>
                </a:solidFill>
              </a:defRPr>
            </a:lvl5pPr>
            <a:lvl6pPr>
              <a:defRPr sz="1500" b="1">
                <a:solidFill>
                  <a:srgbClr val="172B3A"/>
                </a:solidFill>
              </a:defRPr>
            </a:lvl6pPr>
            <a:lvl7pPr>
              <a:defRPr sz="1500" b="1">
                <a:solidFill>
                  <a:srgbClr val="172B3A"/>
                </a:solidFill>
              </a:defRPr>
            </a:lvl7pPr>
            <a:lvl8pPr>
              <a:defRPr sz="1500" b="1">
                <a:solidFill>
                  <a:srgbClr val="172B3A"/>
                </a:solidFill>
              </a:defRPr>
            </a:lvl8pPr>
            <a:lvl9pPr>
              <a:defRPr sz="150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2B3A"/>
                </a:solidFill>
              </a:defRPr>
            </a:pPr>
            <a:r>
              <a:rPr sz="1500" b="1">
                <a:solidFill>
                  <a:srgbClr val="172B3A"/>
                </a:solidFill>
              </a:rPr>
              <a:t>population poverty rate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4CAC6B-A88F-4255-B5E1-A9DA31E4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52750"/>
            <a:ext cx="5905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1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3775A-4369-4D02-9863-9E63DD96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86100"/>
            <a:ext cx="166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087E8B"/>
                </a:solidFill>
              </a:defRPr>
            </a:defPPr>
            <a:lvl1pPr>
              <a:defRPr sz="2850" b="1">
                <a:solidFill>
                  <a:srgbClr val="087E8B"/>
                </a:solidFill>
              </a:defRPr>
            </a:lvl1pPr>
            <a:lvl2pPr>
              <a:defRPr sz="2850" b="1">
                <a:solidFill>
                  <a:srgbClr val="087E8B"/>
                </a:solidFill>
              </a:defRPr>
            </a:lvl2pPr>
            <a:lvl3pPr>
              <a:defRPr sz="2850" b="1">
                <a:solidFill>
                  <a:srgbClr val="087E8B"/>
                </a:solidFill>
              </a:defRPr>
            </a:lvl3pPr>
            <a:lvl4pPr>
              <a:defRPr sz="2850" b="1">
                <a:solidFill>
                  <a:srgbClr val="087E8B"/>
                </a:solidFill>
              </a:defRPr>
            </a:lvl4pPr>
            <a:lvl5pPr>
              <a:defRPr sz="2850" b="1">
                <a:solidFill>
                  <a:srgbClr val="087E8B"/>
                </a:solidFill>
              </a:defRPr>
            </a:lvl5pPr>
            <a:lvl6pPr>
              <a:defRPr sz="2850" b="1">
                <a:solidFill>
                  <a:srgbClr val="087E8B"/>
                </a:solidFill>
              </a:defRPr>
            </a:lvl6pPr>
            <a:lvl7pPr>
              <a:defRPr sz="2850" b="1">
                <a:solidFill>
                  <a:srgbClr val="087E8B"/>
                </a:solidFill>
              </a:defRPr>
            </a:lvl7pPr>
            <a:lvl8pPr>
              <a:defRPr sz="2850" b="1">
                <a:solidFill>
                  <a:srgbClr val="087E8B"/>
                </a:solidFill>
              </a:defRPr>
            </a:lvl8pPr>
            <a:lvl9pPr>
              <a:defRPr sz="2850" b="1">
                <a:solidFill>
                  <a:srgbClr val="087E8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87E8B"/>
                </a:solidFill>
              </a:defRPr>
            </a:pPr>
            <a:r>
              <a:rPr sz="2850" b="1">
                <a:solidFill>
                  <a:srgbClr val="087E8B"/>
                </a:solidFill>
              </a:rPr>
              <a:t>15.9%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751EC8-3C49-40CD-BA4A-A75C9D8F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24200"/>
            <a:ext cx="333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72B3A"/>
                </a:solidFill>
              </a:defRPr>
            </a:defPPr>
            <a:lvl1pPr>
              <a:defRPr sz="1500" b="1">
                <a:solidFill>
                  <a:srgbClr val="172B3A"/>
                </a:solidFill>
              </a:defRPr>
            </a:lvl1pPr>
            <a:lvl2pPr>
              <a:defRPr sz="1500" b="1">
                <a:solidFill>
                  <a:srgbClr val="172B3A"/>
                </a:solidFill>
              </a:defRPr>
            </a:lvl2pPr>
            <a:lvl3pPr>
              <a:defRPr sz="1500" b="1">
                <a:solidFill>
                  <a:srgbClr val="172B3A"/>
                </a:solidFill>
              </a:defRPr>
            </a:lvl3pPr>
            <a:lvl4pPr>
              <a:defRPr sz="1500" b="1">
                <a:solidFill>
                  <a:srgbClr val="172B3A"/>
                </a:solidFill>
              </a:defRPr>
            </a:lvl4pPr>
            <a:lvl5pPr>
              <a:defRPr sz="1500" b="1">
                <a:solidFill>
                  <a:srgbClr val="172B3A"/>
                </a:solidFill>
              </a:defRPr>
            </a:lvl5pPr>
            <a:lvl6pPr>
              <a:defRPr sz="1500" b="1">
                <a:solidFill>
                  <a:srgbClr val="172B3A"/>
                </a:solidFill>
              </a:defRPr>
            </a:lvl6pPr>
            <a:lvl7pPr>
              <a:defRPr sz="1500" b="1">
                <a:solidFill>
                  <a:srgbClr val="172B3A"/>
                </a:solidFill>
              </a:defRPr>
            </a:lvl7pPr>
            <a:lvl8pPr>
              <a:defRPr sz="1500" b="1">
                <a:solidFill>
                  <a:srgbClr val="172B3A"/>
                </a:solidFill>
              </a:defRPr>
            </a:lvl8pPr>
            <a:lvl9pPr>
              <a:defRPr sz="150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2B3A"/>
                </a:solidFill>
              </a:defRPr>
            </a:pPr>
            <a:r>
              <a:rPr sz="1500" b="1">
                <a:solidFill>
                  <a:srgbClr val="172B3A"/>
                </a:solidFill>
              </a:rPr>
              <a:t>VUP coverage among poor households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200F5B-A590-415F-89E3-77DB5A39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91000"/>
            <a:ext cx="5905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1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CA63B9-239A-4051-A24D-AFF8E21F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24350"/>
            <a:ext cx="166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087E8B"/>
                </a:solidFill>
              </a:defRPr>
            </a:defPPr>
            <a:lvl1pPr>
              <a:defRPr sz="2850" b="1">
                <a:solidFill>
                  <a:srgbClr val="087E8B"/>
                </a:solidFill>
              </a:defRPr>
            </a:lvl1pPr>
            <a:lvl2pPr>
              <a:defRPr sz="2850" b="1">
                <a:solidFill>
                  <a:srgbClr val="087E8B"/>
                </a:solidFill>
              </a:defRPr>
            </a:lvl2pPr>
            <a:lvl3pPr>
              <a:defRPr sz="2850" b="1">
                <a:solidFill>
                  <a:srgbClr val="087E8B"/>
                </a:solidFill>
              </a:defRPr>
            </a:lvl3pPr>
            <a:lvl4pPr>
              <a:defRPr sz="2850" b="1">
                <a:solidFill>
                  <a:srgbClr val="087E8B"/>
                </a:solidFill>
              </a:defRPr>
            </a:lvl4pPr>
            <a:lvl5pPr>
              <a:defRPr sz="2850" b="1">
                <a:solidFill>
                  <a:srgbClr val="087E8B"/>
                </a:solidFill>
              </a:defRPr>
            </a:lvl5pPr>
            <a:lvl6pPr>
              <a:defRPr sz="2850" b="1">
                <a:solidFill>
                  <a:srgbClr val="087E8B"/>
                </a:solidFill>
              </a:defRPr>
            </a:lvl6pPr>
            <a:lvl7pPr>
              <a:defRPr sz="2850" b="1">
                <a:solidFill>
                  <a:srgbClr val="087E8B"/>
                </a:solidFill>
              </a:defRPr>
            </a:lvl7pPr>
            <a:lvl8pPr>
              <a:defRPr sz="2850" b="1">
                <a:solidFill>
                  <a:srgbClr val="087E8B"/>
                </a:solidFill>
              </a:defRPr>
            </a:lvl8pPr>
            <a:lvl9pPr>
              <a:defRPr sz="2850" b="1">
                <a:solidFill>
                  <a:srgbClr val="087E8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87E8B"/>
                </a:solidFill>
              </a:defRPr>
            </a:pPr>
            <a:r>
              <a:rPr sz="2850" b="1">
                <a:solidFill>
                  <a:srgbClr val="087E8B"/>
                </a:solidFill>
              </a:rPr>
              <a:t>82.0%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FFD278-0823-4852-94FF-19F01C15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362450"/>
            <a:ext cx="333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72B3A"/>
                </a:solidFill>
              </a:defRPr>
            </a:defPPr>
            <a:lvl1pPr>
              <a:defRPr sz="1500" b="1">
                <a:solidFill>
                  <a:srgbClr val="172B3A"/>
                </a:solidFill>
              </a:defRPr>
            </a:lvl1pPr>
            <a:lvl2pPr>
              <a:defRPr sz="1500" b="1">
                <a:solidFill>
                  <a:srgbClr val="172B3A"/>
                </a:solidFill>
              </a:defRPr>
            </a:lvl2pPr>
            <a:lvl3pPr>
              <a:defRPr sz="1500" b="1">
                <a:solidFill>
                  <a:srgbClr val="172B3A"/>
                </a:solidFill>
              </a:defRPr>
            </a:lvl3pPr>
            <a:lvl4pPr>
              <a:defRPr sz="1500" b="1">
                <a:solidFill>
                  <a:srgbClr val="172B3A"/>
                </a:solidFill>
              </a:defRPr>
            </a:lvl4pPr>
            <a:lvl5pPr>
              <a:defRPr sz="1500" b="1">
                <a:solidFill>
                  <a:srgbClr val="172B3A"/>
                </a:solidFill>
              </a:defRPr>
            </a:lvl5pPr>
            <a:lvl6pPr>
              <a:defRPr sz="1500" b="1">
                <a:solidFill>
                  <a:srgbClr val="172B3A"/>
                </a:solidFill>
              </a:defRPr>
            </a:lvl6pPr>
            <a:lvl7pPr>
              <a:defRPr sz="1500" b="1">
                <a:solidFill>
                  <a:srgbClr val="172B3A"/>
                </a:solidFill>
              </a:defRPr>
            </a:lvl7pPr>
            <a:lvl8pPr>
              <a:defRPr sz="1500" b="1">
                <a:solidFill>
                  <a:srgbClr val="172B3A"/>
                </a:solidFill>
              </a:defRPr>
            </a:lvl8pPr>
            <a:lvl9pPr>
              <a:defRPr sz="150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2B3A"/>
                </a:solidFill>
              </a:defRPr>
            </a:pPr>
            <a:r>
              <a:rPr sz="1500" b="1">
                <a:solidFill>
                  <a:srgbClr val="172B3A"/>
                </a:solidFill>
              </a:rPr>
              <a:t>bank/mobile account access among poor households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E76B5D-5DD2-43DE-BB52-F935FB56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38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52616B"/>
                </a:solidFill>
              </a:defRPr>
            </a:defPPr>
            <a:lvl1pPr>
              <a:defRPr sz="1125" b="1">
                <a:solidFill>
                  <a:srgbClr val="52616B"/>
                </a:solidFill>
              </a:defRPr>
            </a:lvl1pPr>
            <a:lvl2pPr>
              <a:defRPr sz="1125" b="1">
                <a:solidFill>
                  <a:srgbClr val="52616B"/>
                </a:solidFill>
              </a:defRPr>
            </a:lvl2pPr>
            <a:lvl3pPr>
              <a:defRPr sz="1125" b="1">
                <a:solidFill>
                  <a:srgbClr val="52616B"/>
                </a:solidFill>
              </a:defRPr>
            </a:lvl3pPr>
            <a:lvl4pPr>
              <a:defRPr sz="1125" b="1">
                <a:solidFill>
                  <a:srgbClr val="52616B"/>
                </a:solidFill>
              </a:defRPr>
            </a:lvl4pPr>
            <a:lvl5pPr>
              <a:defRPr sz="1125" b="1">
                <a:solidFill>
                  <a:srgbClr val="52616B"/>
                </a:solidFill>
              </a:defRPr>
            </a:lvl5pPr>
            <a:lvl6pPr>
              <a:defRPr sz="1125" b="1">
                <a:solidFill>
                  <a:srgbClr val="52616B"/>
                </a:solidFill>
              </a:defRPr>
            </a:lvl6pPr>
            <a:lvl7pPr>
              <a:defRPr sz="1125" b="1">
                <a:solidFill>
                  <a:srgbClr val="52616B"/>
                </a:solidFill>
              </a:defRPr>
            </a:lvl7pPr>
            <a:lvl8pPr>
              <a:defRPr sz="1125" b="1">
                <a:solidFill>
                  <a:srgbClr val="52616B"/>
                </a:solidFill>
              </a:defRPr>
            </a:lvl8pPr>
            <a:lvl9pPr>
              <a:defRPr sz="1125" b="1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Access does not imply affordability, active use, or suitability.</a:t>
            </a:r>
          </a:p>
        </p:txBody>
      </p:sp>
    </p:spTree>
    <p:extLst>
      <p:ext uri="{BB962C8B-B14F-4D97-AF65-F5344CB8AC3E}">
        <p14:creationId xmlns:p14="http://schemas.microsoft.com/office/powerpoint/2010/main" val="10937037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A1BB9A-EA23-4E61-964E-D82DBF38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1975E-7B60-40E2-BD39-335D64E0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06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72B3A"/>
                </a:solidFill>
              </a:defRPr>
            </a:defPPr>
            <a:lvl1pPr>
              <a:defRPr sz="2400" b="1">
                <a:solidFill>
                  <a:srgbClr val="172B3A"/>
                </a:solidFill>
              </a:defRPr>
            </a:lvl1pPr>
            <a:lvl2pPr>
              <a:defRPr sz="2400" b="1">
                <a:solidFill>
                  <a:srgbClr val="172B3A"/>
                </a:solidFill>
              </a:defRPr>
            </a:lvl2pPr>
            <a:lvl3pPr>
              <a:defRPr sz="2400" b="1">
                <a:solidFill>
                  <a:srgbClr val="172B3A"/>
                </a:solidFill>
              </a:defRPr>
            </a:lvl3pPr>
            <a:lvl4pPr>
              <a:defRPr sz="2400" b="1">
                <a:solidFill>
                  <a:srgbClr val="172B3A"/>
                </a:solidFill>
              </a:defRPr>
            </a:lvl4pPr>
            <a:lvl5pPr>
              <a:defRPr sz="2400" b="1">
                <a:solidFill>
                  <a:srgbClr val="172B3A"/>
                </a:solidFill>
              </a:defRPr>
            </a:lvl5pPr>
            <a:lvl6pPr>
              <a:defRPr sz="2400" b="1">
                <a:solidFill>
                  <a:srgbClr val="172B3A"/>
                </a:solidFill>
              </a:defRPr>
            </a:lvl6pPr>
            <a:lvl7pPr>
              <a:defRPr sz="2400" b="1">
                <a:solidFill>
                  <a:srgbClr val="172B3A"/>
                </a:solidFill>
              </a:defRPr>
            </a:lvl7pPr>
            <a:lvl8pPr>
              <a:defRPr sz="2400" b="1">
                <a:solidFill>
                  <a:srgbClr val="172B3A"/>
                </a:solidFill>
              </a:defRPr>
            </a:lvl8pPr>
            <a:lvl9pPr>
              <a:defRPr sz="240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2B3A"/>
                </a:solidFill>
              </a:defRPr>
            </a:pPr>
            <a:r>
              <a:rPr sz="2400" b="1">
                <a:solidFill>
                  <a:srgbClr val="172B3A"/>
                </a:solidFill>
              </a:rPr>
              <a:t>The largest estimated burden is concentrated in five districts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34B1E-996B-4B38-AE4B-87D81180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16B"/>
                </a:solidFill>
              </a:defRPr>
            </a:defPPr>
            <a:lvl1pPr>
              <a:defRPr sz="1125" b="0">
                <a:solidFill>
                  <a:srgbClr val="52616B"/>
                </a:solidFill>
              </a:defRPr>
            </a:lvl1pPr>
            <a:lvl2pPr>
              <a:defRPr sz="1125" b="0">
                <a:solidFill>
                  <a:srgbClr val="52616B"/>
                </a:solidFill>
              </a:defRPr>
            </a:lvl2pPr>
            <a:lvl3pPr>
              <a:defRPr sz="1125" b="0">
                <a:solidFill>
                  <a:srgbClr val="52616B"/>
                </a:solidFill>
              </a:defRPr>
            </a:lvl3pPr>
            <a:lvl4pPr>
              <a:defRPr sz="1125" b="0">
                <a:solidFill>
                  <a:srgbClr val="52616B"/>
                </a:solidFill>
              </a:defRPr>
            </a:lvl4pPr>
            <a:lvl5pPr>
              <a:defRPr sz="1125" b="0">
                <a:solidFill>
                  <a:srgbClr val="52616B"/>
                </a:solidFill>
              </a:defRPr>
            </a:lvl5pPr>
            <a:lvl6pPr>
              <a:defRPr sz="1125" b="0">
                <a:solidFill>
                  <a:srgbClr val="52616B"/>
                </a:solidFill>
              </a:defRPr>
            </a:lvl6pPr>
            <a:lvl7pPr>
              <a:defRPr sz="1125" b="0">
                <a:solidFill>
                  <a:srgbClr val="52616B"/>
                </a:solidFill>
              </a:defRPr>
            </a:lvl7pPr>
            <a:lvl8pPr>
              <a:defRPr sz="1125" b="0">
                <a:solidFill>
                  <a:srgbClr val="52616B"/>
                </a:solidFill>
              </a:defRPr>
            </a:lvl8pPr>
            <a:lvl9pPr>
              <a:defRPr sz="11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Estimated number of poor households with double exclusion; household weighted.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E2007-7C1A-49BD-9B21-E45C51E3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30087-AB75-4753-B2E6-30739B06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788690"/>
                </a:solidFill>
              </a:defRPr>
            </a:defPPr>
            <a:lvl1pPr>
              <a:defRPr sz="825" b="0">
                <a:solidFill>
                  <a:srgbClr val="788690"/>
                </a:solidFill>
              </a:defRPr>
            </a:lvl1pPr>
            <a:lvl2pPr>
              <a:defRPr sz="825" b="0">
                <a:solidFill>
                  <a:srgbClr val="788690"/>
                </a:solidFill>
              </a:defRPr>
            </a:lvl2pPr>
            <a:lvl3pPr>
              <a:defRPr sz="825" b="0">
                <a:solidFill>
                  <a:srgbClr val="788690"/>
                </a:solidFill>
              </a:defRPr>
            </a:lvl3pPr>
            <a:lvl4pPr>
              <a:defRPr sz="825" b="0">
                <a:solidFill>
                  <a:srgbClr val="788690"/>
                </a:solidFill>
              </a:defRPr>
            </a:lvl4pPr>
            <a:lvl5pPr>
              <a:defRPr sz="825" b="0">
                <a:solidFill>
                  <a:srgbClr val="788690"/>
                </a:solidFill>
              </a:defRPr>
            </a:lvl5pPr>
            <a:lvl6pPr>
              <a:defRPr sz="825" b="0">
                <a:solidFill>
                  <a:srgbClr val="788690"/>
                </a:solidFill>
              </a:defRPr>
            </a:lvl6pPr>
            <a:lvl7pPr>
              <a:defRPr sz="825" b="0">
                <a:solidFill>
                  <a:srgbClr val="788690"/>
                </a:solidFill>
              </a:defRPr>
            </a:lvl7pPr>
            <a:lvl8pPr>
              <a:defRPr sz="825" b="0">
                <a:solidFill>
                  <a:srgbClr val="788690"/>
                </a:solidFill>
              </a:defRPr>
            </a:lvl8pPr>
            <a:lvl9pPr>
              <a:defRPr sz="825" b="0">
                <a:solidFill>
                  <a:srgbClr val="788690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788690"/>
                </a:solidFill>
              </a:defRPr>
            </a:pPr>
            <a:r>
              <a:rPr sz="825" b="0">
                <a:solidFill>
                  <a:srgbClr val="788690"/>
                </a:solidFill>
              </a:rPr>
              <a:t>EICV7 • Rwanda • descriptive district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DAE14-6155-4A80-BB00-D3A571B2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788690"/>
                </a:solidFill>
              </a:defRPr>
            </a:defPPr>
            <a:lvl1pPr>
              <a:defRPr sz="825" b="1">
                <a:solidFill>
                  <a:srgbClr val="788690"/>
                </a:solidFill>
              </a:defRPr>
            </a:lvl1pPr>
            <a:lvl2pPr>
              <a:defRPr sz="825" b="1">
                <a:solidFill>
                  <a:srgbClr val="788690"/>
                </a:solidFill>
              </a:defRPr>
            </a:lvl2pPr>
            <a:lvl3pPr>
              <a:defRPr sz="825" b="1">
                <a:solidFill>
                  <a:srgbClr val="788690"/>
                </a:solidFill>
              </a:defRPr>
            </a:lvl3pPr>
            <a:lvl4pPr>
              <a:defRPr sz="825" b="1">
                <a:solidFill>
                  <a:srgbClr val="788690"/>
                </a:solidFill>
              </a:defRPr>
            </a:lvl4pPr>
            <a:lvl5pPr>
              <a:defRPr sz="825" b="1">
                <a:solidFill>
                  <a:srgbClr val="788690"/>
                </a:solidFill>
              </a:defRPr>
            </a:lvl5pPr>
            <a:lvl6pPr>
              <a:defRPr sz="825" b="1">
                <a:solidFill>
                  <a:srgbClr val="788690"/>
                </a:solidFill>
              </a:defRPr>
            </a:lvl6pPr>
            <a:lvl7pPr>
              <a:defRPr sz="825" b="1">
                <a:solidFill>
                  <a:srgbClr val="788690"/>
                </a:solidFill>
              </a:defRPr>
            </a:lvl7pPr>
            <a:lvl8pPr>
              <a:defRPr sz="825" b="1">
                <a:solidFill>
                  <a:srgbClr val="788690"/>
                </a:solidFill>
              </a:defRPr>
            </a:lvl8pPr>
            <a:lvl9pPr>
              <a:defRPr sz="825" b="1">
                <a:solidFill>
                  <a:srgbClr val="78869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788690"/>
                </a:solidFill>
              </a:defRPr>
            </a:pPr>
            <a:r>
              <a:rPr sz="825" b="1">
                <a:solidFill>
                  <a:srgbClr val="788690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D4314-5954-4075-AA85-C8C9234C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72B3A"/>
                </a:solidFill>
              </a:defRPr>
            </a:defPPr>
            <a:lvl1pPr>
              <a:defRPr sz="1500" b="1">
                <a:solidFill>
                  <a:srgbClr val="172B3A"/>
                </a:solidFill>
              </a:defRPr>
            </a:lvl1pPr>
            <a:lvl2pPr>
              <a:defRPr sz="1500" b="1">
                <a:solidFill>
                  <a:srgbClr val="172B3A"/>
                </a:solidFill>
              </a:defRPr>
            </a:lvl2pPr>
            <a:lvl3pPr>
              <a:defRPr sz="1500" b="1">
                <a:solidFill>
                  <a:srgbClr val="172B3A"/>
                </a:solidFill>
              </a:defRPr>
            </a:lvl3pPr>
            <a:lvl4pPr>
              <a:defRPr sz="1500" b="1">
                <a:solidFill>
                  <a:srgbClr val="172B3A"/>
                </a:solidFill>
              </a:defRPr>
            </a:lvl4pPr>
            <a:lvl5pPr>
              <a:defRPr sz="1500" b="1">
                <a:solidFill>
                  <a:srgbClr val="172B3A"/>
                </a:solidFill>
              </a:defRPr>
            </a:lvl5pPr>
            <a:lvl6pPr>
              <a:defRPr sz="1500" b="1">
                <a:solidFill>
                  <a:srgbClr val="172B3A"/>
                </a:solidFill>
              </a:defRPr>
            </a:lvl6pPr>
            <a:lvl7pPr>
              <a:defRPr sz="1500" b="1">
                <a:solidFill>
                  <a:srgbClr val="172B3A"/>
                </a:solidFill>
              </a:defRPr>
            </a:lvl7pPr>
            <a:lvl8pPr>
              <a:defRPr sz="1500" b="1">
                <a:solidFill>
                  <a:srgbClr val="172B3A"/>
                </a:solidFill>
              </a:defRPr>
            </a:lvl8pPr>
            <a:lvl9pPr>
              <a:defRPr sz="150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2B3A"/>
                </a:solidFill>
              </a:defRPr>
            </a:pPr>
            <a:r>
              <a:rPr sz="1500" b="1">
                <a:solidFill>
                  <a:srgbClr val="172B3A"/>
                </a:solidFill>
              </a:rPr>
              <a:t>Kamonyi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528E1-F7E1-4C71-996D-01DC953B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85925"/>
            <a:ext cx="590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D4FC0-18C5-468F-A062-78946DF3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85925"/>
            <a:ext cx="555117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43C4FC-CBDF-4714-B3BE-73EB78A1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470" y="16764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72B3A"/>
                </a:solidFill>
              </a:defRPr>
            </a:defPPr>
            <a:lvl1pPr>
              <a:defRPr sz="1275" b="1">
                <a:solidFill>
                  <a:srgbClr val="172B3A"/>
                </a:solidFill>
              </a:defRPr>
            </a:lvl1pPr>
            <a:lvl2pPr>
              <a:defRPr sz="1275" b="1">
                <a:solidFill>
                  <a:srgbClr val="172B3A"/>
                </a:solidFill>
              </a:defRPr>
            </a:lvl2pPr>
            <a:lvl3pPr>
              <a:defRPr sz="1275" b="1">
                <a:solidFill>
                  <a:srgbClr val="172B3A"/>
                </a:solidFill>
              </a:defRPr>
            </a:lvl3pPr>
            <a:lvl4pPr>
              <a:defRPr sz="1275" b="1">
                <a:solidFill>
                  <a:srgbClr val="172B3A"/>
                </a:solidFill>
              </a:defRPr>
            </a:lvl4pPr>
            <a:lvl5pPr>
              <a:defRPr sz="1275" b="1">
                <a:solidFill>
                  <a:srgbClr val="172B3A"/>
                </a:solidFill>
              </a:defRPr>
            </a:lvl5pPr>
            <a:lvl6pPr>
              <a:defRPr sz="1275" b="1">
                <a:solidFill>
                  <a:srgbClr val="172B3A"/>
                </a:solidFill>
              </a:defRPr>
            </a:lvl6pPr>
            <a:lvl7pPr>
              <a:defRPr sz="1275" b="1">
                <a:solidFill>
                  <a:srgbClr val="172B3A"/>
                </a:solidFill>
              </a:defRPr>
            </a:lvl7pPr>
            <a:lvl8pPr>
              <a:defRPr sz="1275" b="1">
                <a:solidFill>
                  <a:srgbClr val="172B3A"/>
                </a:solidFill>
              </a:defRPr>
            </a:lvl8pPr>
            <a:lvl9pPr>
              <a:defRPr sz="1275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2B3A"/>
                </a:solidFill>
              </a:defRPr>
            </a:pPr>
            <a:r>
              <a:rPr sz="1275" b="1">
                <a:solidFill>
                  <a:srgbClr val="172B3A"/>
                </a:solidFill>
              </a:rPr>
              <a:t>12.2k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43F401-F32C-4D0F-9BC8-80B18055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04975"/>
            <a:ext cx="2143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2616B"/>
                </a:solidFill>
              </a:defRPr>
            </a:defPPr>
            <a:lvl1pPr>
              <a:defRPr sz="1050" b="0">
                <a:solidFill>
                  <a:srgbClr val="52616B"/>
                </a:solidFill>
              </a:defRPr>
            </a:lvl1pPr>
            <a:lvl2pPr>
              <a:defRPr sz="1050" b="0">
                <a:solidFill>
                  <a:srgbClr val="52616B"/>
                </a:solidFill>
              </a:defRPr>
            </a:lvl2pPr>
            <a:lvl3pPr>
              <a:defRPr sz="1050" b="0">
                <a:solidFill>
                  <a:srgbClr val="52616B"/>
                </a:solidFill>
              </a:defRPr>
            </a:lvl3pPr>
            <a:lvl4pPr>
              <a:defRPr sz="1050" b="0">
                <a:solidFill>
                  <a:srgbClr val="52616B"/>
                </a:solidFill>
              </a:defRPr>
            </a:lvl4pPr>
            <a:lvl5pPr>
              <a:defRPr sz="1050" b="0">
                <a:solidFill>
                  <a:srgbClr val="52616B"/>
                </a:solidFill>
              </a:defRPr>
            </a:lvl5pPr>
            <a:lvl6pPr>
              <a:defRPr sz="1050" b="0">
                <a:solidFill>
                  <a:srgbClr val="52616B"/>
                </a:solidFill>
              </a:defRPr>
            </a:lvl6pPr>
            <a:lvl7pPr>
              <a:defRPr sz="1050" b="0">
                <a:solidFill>
                  <a:srgbClr val="52616B"/>
                </a:solidFill>
              </a:defRPr>
            </a:lvl7pPr>
            <a:lvl8pPr>
              <a:defRPr sz="1050" b="0">
                <a:solidFill>
                  <a:srgbClr val="52616B"/>
                </a:solidFill>
              </a:defRPr>
            </a:lvl8pPr>
            <a:lvl9pPr>
              <a:defRPr sz="1050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16B"/>
                </a:solidFill>
              </a:defRPr>
            </a:pPr>
            <a:r>
              <a:rPr sz="1050" b="0">
                <a:solidFill>
                  <a:srgbClr val="52616B"/>
                </a:solidFill>
              </a:rPr>
              <a:t>29.0% of poor households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6E39DC-2DE1-41EA-9A31-13FF9805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72B3A"/>
                </a:solidFill>
              </a:defRPr>
            </a:defPPr>
            <a:lvl1pPr>
              <a:defRPr sz="1500" b="1">
                <a:solidFill>
                  <a:srgbClr val="172B3A"/>
                </a:solidFill>
              </a:defRPr>
            </a:lvl1pPr>
            <a:lvl2pPr>
              <a:defRPr sz="1500" b="1">
                <a:solidFill>
                  <a:srgbClr val="172B3A"/>
                </a:solidFill>
              </a:defRPr>
            </a:lvl2pPr>
            <a:lvl3pPr>
              <a:defRPr sz="1500" b="1">
                <a:solidFill>
                  <a:srgbClr val="172B3A"/>
                </a:solidFill>
              </a:defRPr>
            </a:lvl3pPr>
            <a:lvl4pPr>
              <a:defRPr sz="1500" b="1">
                <a:solidFill>
                  <a:srgbClr val="172B3A"/>
                </a:solidFill>
              </a:defRPr>
            </a:lvl4pPr>
            <a:lvl5pPr>
              <a:defRPr sz="1500" b="1">
                <a:solidFill>
                  <a:srgbClr val="172B3A"/>
                </a:solidFill>
              </a:defRPr>
            </a:lvl5pPr>
            <a:lvl6pPr>
              <a:defRPr sz="1500" b="1">
                <a:solidFill>
                  <a:srgbClr val="172B3A"/>
                </a:solidFill>
              </a:defRPr>
            </a:lvl6pPr>
            <a:lvl7pPr>
              <a:defRPr sz="1500" b="1">
                <a:solidFill>
                  <a:srgbClr val="172B3A"/>
                </a:solidFill>
              </a:defRPr>
            </a:lvl7pPr>
            <a:lvl8pPr>
              <a:defRPr sz="1500" b="1">
                <a:solidFill>
                  <a:srgbClr val="172B3A"/>
                </a:solidFill>
              </a:defRPr>
            </a:lvl8pPr>
            <a:lvl9pPr>
              <a:defRPr sz="150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2B3A"/>
                </a:solidFill>
              </a:defRPr>
            </a:pPr>
            <a:r>
              <a:rPr sz="1500" b="1">
                <a:solidFill>
                  <a:srgbClr val="172B3A"/>
                </a:solidFill>
              </a:rPr>
              <a:t>Nyagatare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0699CE-970A-4183-B561-8C025307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66975"/>
            <a:ext cx="590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EA7AA7-8ABD-4B21-9D06-D81AF770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66975"/>
            <a:ext cx="5255441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06E2A3-21FB-4BB6-838D-1602DCEC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6741" y="24574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72B3A"/>
                </a:solidFill>
              </a:defRPr>
            </a:defPPr>
            <a:lvl1pPr>
              <a:defRPr sz="1275" b="1">
                <a:solidFill>
                  <a:srgbClr val="172B3A"/>
                </a:solidFill>
              </a:defRPr>
            </a:lvl1pPr>
            <a:lvl2pPr>
              <a:defRPr sz="1275" b="1">
                <a:solidFill>
                  <a:srgbClr val="172B3A"/>
                </a:solidFill>
              </a:defRPr>
            </a:lvl2pPr>
            <a:lvl3pPr>
              <a:defRPr sz="1275" b="1">
                <a:solidFill>
                  <a:srgbClr val="172B3A"/>
                </a:solidFill>
              </a:defRPr>
            </a:lvl3pPr>
            <a:lvl4pPr>
              <a:defRPr sz="1275" b="1">
                <a:solidFill>
                  <a:srgbClr val="172B3A"/>
                </a:solidFill>
              </a:defRPr>
            </a:lvl4pPr>
            <a:lvl5pPr>
              <a:defRPr sz="1275" b="1">
                <a:solidFill>
                  <a:srgbClr val="172B3A"/>
                </a:solidFill>
              </a:defRPr>
            </a:lvl5pPr>
            <a:lvl6pPr>
              <a:defRPr sz="1275" b="1">
                <a:solidFill>
                  <a:srgbClr val="172B3A"/>
                </a:solidFill>
              </a:defRPr>
            </a:lvl6pPr>
            <a:lvl7pPr>
              <a:defRPr sz="1275" b="1">
                <a:solidFill>
                  <a:srgbClr val="172B3A"/>
                </a:solidFill>
              </a:defRPr>
            </a:lvl7pPr>
            <a:lvl8pPr>
              <a:defRPr sz="1275" b="1">
                <a:solidFill>
                  <a:srgbClr val="172B3A"/>
                </a:solidFill>
              </a:defRPr>
            </a:lvl8pPr>
            <a:lvl9pPr>
              <a:defRPr sz="1275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2B3A"/>
                </a:solidFill>
              </a:defRPr>
            </a:pPr>
            <a:r>
              <a:rPr sz="1275" b="1">
                <a:solidFill>
                  <a:srgbClr val="172B3A"/>
                </a:solidFill>
              </a:rPr>
              <a:t>11.6k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BB36DB-7A66-4F85-BDBA-EB1E643E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86025"/>
            <a:ext cx="2143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2616B"/>
                </a:solidFill>
              </a:defRPr>
            </a:defPPr>
            <a:lvl1pPr>
              <a:defRPr sz="1050" b="0">
                <a:solidFill>
                  <a:srgbClr val="52616B"/>
                </a:solidFill>
              </a:defRPr>
            </a:lvl1pPr>
            <a:lvl2pPr>
              <a:defRPr sz="1050" b="0">
                <a:solidFill>
                  <a:srgbClr val="52616B"/>
                </a:solidFill>
              </a:defRPr>
            </a:lvl2pPr>
            <a:lvl3pPr>
              <a:defRPr sz="1050" b="0">
                <a:solidFill>
                  <a:srgbClr val="52616B"/>
                </a:solidFill>
              </a:defRPr>
            </a:lvl3pPr>
            <a:lvl4pPr>
              <a:defRPr sz="1050" b="0">
                <a:solidFill>
                  <a:srgbClr val="52616B"/>
                </a:solidFill>
              </a:defRPr>
            </a:lvl4pPr>
            <a:lvl5pPr>
              <a:defRPr sz="1050" b="0">
                <a:solidFill>
                  <a:srgbClr val="52616B"/>
                </a:solidFill>
              </a:defRPr>
            </a:lvl5pPr>
            <a:lvl6pPr>
              <a:defRPr sz="1050" b="0">
                <a:solidFill>
                  <a:srgbClr val="52616B"/>
                </a:solidFill>
              </a:defRPr>
            </a:lvl6pPr>
            <a:lvl7pPr>
              <a:defRPr sz="1050" b="0">
                <a:solidFill>
                  <a:srgbClr val="52616B"/>
                </a:solidFill>
              </a:defRPr>
            </a:lvl7pPr>
            <a:lvl8pPr>
              <a:defRPr sz="1050" b="0">
                <a:solidFill>
                  <a:srgbClr val="52616B"/>
                </a:solidFill>
              </a:defRPr>
            </a:lvl8pPr>
            <a:lvl9pPr>
              <a:defRPr sz="1050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16B"/>
                </a:solidFill>
              </a:defRPr>
            </a:pPr>
            <a:r>
              <a:rPr sz="1050" b="0">
                <a:solidFill>
                  <a:srgbClr val="52616B"/>
                </a:solidFill>
              </a:rPr>
              <a:t>22.2% of poor households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A91073-223F-4C7E-88B7-FF2CAE0C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72B3A"/>
                </a:solidFill>
              </a:defRPr>
            </a:defPPr>
            <a:lvl1pPr>
              <a:defRPr sz="1500" b="1">
                <a:solidFill>
                  <a:srgbClr val="172B3A"/>
                </a:solidFill>
              </a:defRPr>
            </a:lvl1pPr>
            <a:lvl2pPr>
              <a:defRPr sz="1500" b="1">
                <a:solidFill>
                  <a:srgbClr val="172B3A"/>
                </a:solidFill>
              </a:defRPr>
            </a:lvl2pPr>
            <a:lvl3pPr>
              <a:defRPr sz="1500" b="1">
                <a:solidFill>
                  <a:srgbClr val="172B3A"/>
                </a:solidFill>
              </a:defRPr>
            </a:lvl3pPr>
            <a:lvl4pPr>
              <a:defRPr sz="1500" b="1">
                <a:solidFill>
                  <a:srgbClr val="172B3A"/>
                </a:solidFill>
              </a:defRPr>
            </a:lvl4pPr>
            <a:lvl5pPr>
              <a:defRPr sz="1500" b="1">
                <a:solidFill>
                  <a:srgbClr val="172B3A"/>
                </a:solidFill>
              </a:defRPr>
            </a:lvl5pPr>
            <a:lvl6pPr>
              <a:defRPr sz="1500" b="1">
                <a:solidFill>
                  <a:srgbClr val="172B3A"/>
                </a:solidFill>
              </a:defRPr>
            </a:lvl6pPr>
            <a:lvl7pPr>
              <a:defRPr sz="1500" b="1">
                <a:solidFill>
                  <a:srgbClr val="172B3A"/>
                </a:solidFill>
              </a:defRPr>
            </a:lvl7pPr>
            <a:lvl8pPr>
              <a:defRPr sz="1500" b="1">
                <a:solidFill>
                  <a:srgbClr val="172B3A"/>
                </a:solidFill>
              </a:defRPr>
            </a:lvl8pPr>
            <a:lvl9pPr>
              <a:defRPr sz="150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2B3A"/>
                </a:solidFill>
              </a:defRPr>
            </a:pPr>
            <a:r>
              <a:rPr sz="1500" b="1">
                <a:solidFill>
                  <a:srgbClr val="172B3A"/>
                </a:solidFill>
              </a:rPr>
              <a:t>Nyanza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C207D8-255C-4D38-9C60-3185EDCF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48025"/>
            <a:ext cx="590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F15B52-F419-40AF-BC98-BC0DCDF6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48025"/>
            <a:ext cx="460311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298D87-E25F-44C4-9A12-4344477A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4410" y="32385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72B3A"/>
                </a:solidFill>
              </a:defRPr>
            </a:defPPr>
            <a:lvl1pPr>
              <a:defRPr sz="1275" b="1">
                <a:solidFill>
                  <a:srgbClr val="172B3A"/>
                </a:solidFill>
              </a:defRPr>
            </a:lvl1pPr>
            <a:lvl2pPr>
              <a:defRPr sz="1275" b="1">
                <a:solidFill>
                  <a:srgbClr val="172B3A"/>
                </a:solidFill>
              </a:defRPr>
            </a:lvl2pPr>
            <a:lvl3pPr>
              <a:defRPr sz="1275" b="1">
                <a:solidFill>
                  <a:srgbClr val="172B3A"/>
                </a:solidFill>
              </a:defRPr>
            </a:lvl3pPr>
            <a:lvl4pPr>
              <a:defRPr sz="1275" b="1">
                <a:solidFill>
                  <a:srgbClr val="172B3A"/>
                </a:solidFill>
              </a:defRPr>
            </a:lvl4pPr>
            <a:lvl5pPr>
              <a:defRPr sz="1275" b="1">
                <a:solidFill>
                  <a:srgbClr val="172B3A"/>
                </a:solidFill>
              </a:defRPr>
            </a:lvl5pPr>
            <a:lvl6pPr>
              <a:defRPr sz="1275" b="1">
                <a:solidFill>
                  <a:srgbClr val="172B3A"/>
                </a:solidFill>
              </a:defRPr>
            </a:lvl6pPr>
            <a:lvl7pPr>
              <a:defRPr sz="1275" b="1">
                <a:solidFill>
                  <a:srgbClr val="172B3A"/>
                </a:solidFill>
              </a:defRPr>
            </a:lvl7pPr>
            <a:lvl8pPr>
              <a:defRPr sz="1275" b="1">
                <a:solidFill>
                  <a:srgbClr val="172B3A"/>
                </a:solidFill>
              </a:defRPr>
            </a:lvl8pPr>
            <a:lvl9pPr>
              <a:defRPr sz="1275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2B3A"/>
                </a:solidFill>
              </a:defRPr>
            </a:pPr>
            <a:r>
              <a:rPr sz="1275" b="1">
                <a:solidFill>
                  <a:srgbClr val="172B3A"/>
                </a:solidFill>
              </a:rPr>
              <a:t>10.1k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AA9E1E-3C3F-4585-A766-5971FC3E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267075"/>
            <a:ext cx="2143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2616B"/>
                </a:solidFill>
              </a:defRPr>
            </a:defPPr>
            <a:lvl1pPr>
              <a:defRPr sz="1050" b="0">
                <a:solidFill>
                  <a:srgbClr val="52616B"/>
                </a:solidFill>
              </a:defRPr>
            </a:lvl1pPr>
            <a:lvl2pPr>
              <a:defRPr sz="1050" b="0">
                <a:solidFill>
                  <a:srgbClr val="52616B"/>
                </a:solidFill>
              </a:defRPr>
            </a:lvl2pPr>
            <a:lvl3pPr>
              <a:defRPr sz="1050" b="0">
                <a:solidFill>
                  <a:srgbClr val="52616B"/>
                </a:solidFill>
              </a:defRPr>
            </a:lvl3pPr>
            <a:lvl4pPr>
              <a:defRPr sz="1050" b="0">
                <a:solidFill>
                  <a:srgbClr val="52616B"/>
                </a:solidFill>
              </a:defRPr>
            </a:lvl4pPr>
            <a:lvl5pPr>
              <a:defRPr sz="1050" b="0">
                <a:solidFill>
                  <a:srgbClr val="52616B"/>
                </a:solidFill>
              </a:defRPr>
            </a:lvl5pPr>
            <a:lvl6pPr>
              <a:defRPr sz="1050" b="0">
                <a:solidFill>
                  <a:srgbClr val="52616B"/>
                </a:solidFill>
              </a:defRPr>
            </a:lvl6pPr>
            <a:lvl7pPr>
              <a:defRPr sz="1050" b="0">
                <a:solidFill>
                  <a:srgbClr val="52616B"/>
                </a:solidFill>
              </a:defRPr>
            </a:lvl7pPr>
            <a:lvl8pPr>
              <a:defRPr sz="1050" b="0">
                <a:solidFill>
                  <a:srgbClr val="52616B"/>
                </a:solidFill>
              </a:defRPr>
            </a:lvl8pPr>
            <a:lvl9pPr>
              <a:defRPr sz="1050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16B"/>
                </a:solidFill>
              </a:defRPr>
            </a:pPr>
            <a:r>
              <a:rPr sz="1050" b="0">
                <a:solidFill>
                  <a:srgbClr val="52616B"/>
                </a:solidFill>
              </a:rPr>
              <a:t>28.1% of poor households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458D42-E89A-4265-91E0-62ACA262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72B3A"/>
                </a:solidFill>
              </a:defRPr>
            </a:defPPr>
            <a:lvl1pPr>
              <a:defRPr sz="1500" b="1">
                <a:solidFill>
                  <a:srgbClr val="172B3A"/>
                </a:solidFill>
              </a:defRPr>
            </a:lvl1pPr>
            <a:lvl2pPr>
              <a:defRPr sz="1500" b="1">
                <a:solidFill>
                  <a:srgbClr val="172B3A"/>
                </a:solidFill>
              </a:defRPr>
            </a:lvl2pPr>
            <a:lvl3pPr>
              <a:defRPr sz="1500" b="1">
                <a:solidFill>
                  <a:srgbClr val="172B3A"/>
                </a:solidFill>
              </a:defRPr>
            </a:lvl3pPr>
            <a:lvl4pPr>
              <a:defRPr sz="1500" b="1">
                <a:solidFill>
                  <a:srgbClr val="172B3A"/>
                </a:solidFill>
              </a:defRPr>
            </a:lvl4pPr>
            <a:lvl5pPr>
              <a:defRPr sz="1500" b="1">
                <a:solidFill>
                  <a:srgbClr val="172B3A"/>
                </a:solidFill>
              </a:defRPr>
            </a:lvl5pPr>
            <a:lvl6pPr>
              <a:defRPr sz="1500" b="1">
                <a:solidFill>
                  <a:srgbClr val="172B3A"/>
                </a:solidFill>
              </a:defRPr>
            </a:lvl6pPr>
            <a:lvl7pPr>
              <a:defRPr sz="1500" b="1">
                <a:solidFill>
                  <a:srgbClr val="172B3A"/>
                </a:solidFill>
              </a:defRPr>
            </a:lvl7pPr>
            <a:lvl8pPr>
              <a:defRPr sz="1500" b="1">
                <a:solidFill>
                  <a:srgbClr val="172B3A"/>
                </a:solidFill>
              </a:defRPr>
            </a:lvl8pPr>
            <a:lvl9pPr>
              <a:defRPr sz="150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2B3A"/>
                </a:solidFill>
              </a:defRPr>
            </a:pPr>
            <a:r>
              <a:rPr sz="1500" b="1">
                <a:solidFill>
                  <a:srgbClr val="172B3A"/>
                </a:solidFill>
              </a:rPr>
              <a:t>Gisagara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F16080-755E-40D5-BF5A-097E1156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29075"/>
            <a:ext cx="590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6D86AF-9498-4EB3-939E-EF6CF3BA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29075"/>
            <a:ext cx="3814953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93179C-7914-4796-8CD6-7BFC4FBF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253" y="40195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72B3A"/>
                </a:solidFill>
              </a:defRPr>
            </a:defPPr>
            <a:lvl1pPr>
              <a:defRPr sz="1275" b="1">
                <a:solidFill>
                  <a:srgbClr val="172B3A"/>
                </a:solidFill>
              </a:defRPr>
            </a:lvl1pPr>
            <a:lvl2pPr>
              <a:defRPr sz="1275" b="1">
                <a:solidFill>
                  <a:srgbClr val="172B3A"/>
                </a:solidFill>
              </a:defRPr>
            </a:lvl2pPr>
            <a:lvl3pPr>
              <a:defRPr sz="1275" b="1">
                <a:solidFill>
                  <a:srgbClr val="172B3A"/>
                </a:solidFill>
              </a:defRPr>
            </a:lvl3pPr>
            <a:lvl4pPr>
              <a:defRPr sz="1275" b="1">
                <a:solidFill>
                  <a:srgbClr val="172B3A"/>
                </a:solidFill>
              </a:defRPr>
            </a:lvl4pPr>
            <a:lvl5pPr>
              <a:defRPr sz="1275" b="1">
                <a:solidFill>
                  <a:srgbClr val="172B3A"/>
                </a:solidFill>
              </a:defRPr>
            </a:lvl5pPr>
            <a:lvl6pPr>
              <a:defRPr sz="1275" b="1">
                <a:solidFill>
                  <a:srgbClr val="172B3A"/>
                </a:solidFill>
              </a:defRPr>
            </a:lvl6pPr>
            <a:lvl7pPr>
              <a:defRPr sz="1275" b="1">
                <a:solidFill>
                  <a:srgbClr val="172B3A"/>
                </a:solidFill>
              </a:defRPr>
            </a:lvl7pPr>
            <a:lvl8pPr>
              <a:defRPr sz="1275" b="1">
                <a:solidFill>
                  <a:srgbClr val="172B3A"/>
                </a:solidFill>
              </a:defRPr>
            </a:lvl8pPr>
            <a:lvl9pPr>
              <a:defRPr sz="1275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2B3A"/>
                </a:solidFill>
              </a:defRPr>
            </a:pPr>
            <a:r>
              <a:rPr sz="1275" b="1">
                <a:solidFill>
                  <a:srgbClr val="172B3A"/>
                </a:solidFill>
              </a:rPr>
              <a:t>8.4k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BB713B-929E-4A37-9935-5E859D2B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48125"/>
            <a:ext cx="2143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2616B"/>
                </a:solidFill>
              </a:defRPr>
            </a:defPPr>
            <a:lvl1pPr>
              <a:defRPr sz="1050" b="0">
                <a:solidFill>
                  <a:srgbClr val="52616B"/>
                </a:solidFill>
              </a:defRPr>
            </a:lvl1pPr>
            <a:lvl2pPr>
              <a:defRPr sz="1050" b="0">
                <a:solidFill>
                  <a:srgbClr val="52616B"/>
                </a:solidFill>
              </a:defRPr>
            </a:lvl2pPr>
            <a:lvl3pPr>
              <a:defRPr sz="1050" b="0">
                <a:solidFill>
                  <a:srgbClr val="52616B"/>
                </a:solidFill>
              </a:defRPr>
            </a:lvl3pPr>
            <a:lvl4pPr>
              <a:defRPr sz="1050" b="0">
                <a:solidFill>
                  <a:srgbClr val="52616B"/>
                </a:solidFill>
              </a:defRPr>
            </a:lvl4pPr>
            <a:lvl5pPr>
              <a:defRPr sz="1050" b="0">
                <a:solidFill>
                  <a:srgbClr val="52616B"/>
                </a:solidFill>
              </a:defRPr>
            </a:lvl5pPr>
            <a:lvl6pPr>
              <a:defRPr sz="1050" b="0">
                <a:solidFill>
                  <a:srgbClr val="52616B"/>
                </a:solidFill>
              </a:defRPr>
            </a:lvl6pPr>
            <a:lvl7pPr>
              <a:defRPr sz="1050" b="0">
                <a:solidFill>
                  <a:srgbClr val="52616B"/>
                </a:solidFill>
              </a:defRPr>
            </a:lvl7pPr>
            <a:lvl8pPr>
              <a:defRPr sz="1050" b="0">
                <a:solidFill>
                  <a:srgbClr val="52616B"/>
                </a:solidFill>
              </a:defRPr>
            </a:lvl8pPr>
            <a:lvl9pPr>
              <a:defRPr sz="1050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16B"/>
                </a:solidFill>
              </a:defRPr>
            </a:pPr>
            <a:r>
              <a:rPr sz="1050" b="0">
                <a:solidFill>
                  <a:srgbClr val="52616B"/>
                </a:solidFill>
              </a:rPr>
              <a:t>21.5% of poor households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50E465-A107-48D8-B44E-C6B57C73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72B3A"/>
                </a:solidFill>
              </a:defRPr>
            </a:defPPr>
            <a:lvl1pPr>
              <a:defRPr sz="1500" b="1">
                <a:solidFill>
                  <a:srgbClr val="172B3A"/>
                </a:solidFill>
              </a:defRPr>
            </a:lvl1pPr>
            <a:lvl2pPr>
              <a:defRPr sz="1500" b="1">
                <a:solidFill>
                  <a:srgbClr val="172B3A"/>
                </a:solidFill>
              </a:defRPr>
            </a:lvl2pPr>
            <a:lvl3pPr>
              <a:defRPr sz="1500" b="1">
                <a:solidFill>
                  <a:srgbClr val="172B3A"/>
                </a:solidFill>
              </a:defRPr>
            </a:lvl3pPr>
            <a:lvl4pPr>
              <a:defRPr sz="1500" b="1">
                <a:solidFill>
                  <a:srgbClr val="172B3A"/>
                </a:solidFill>
              </a:defRPr>
            </a:lvl4pPr>
            <a:lvl5pPr>
              <a:defRPr sz="1500" b="1">
                <a:solidFill>
                  <a:srgbClr val="172B3A"/>
                </a:solidFill>
              </a:defRPr>
            </a:lvl5pPr>
            <a:lvl6pPr>
              <a:defRPr sz="1500" b="1">
                <a:solidFill>
                  <a:srgbClr val="172B3A"/>
                </a:solidFill>
              </a:defRPr>
            </a:lvl6pPr>
            <a:lvl7pPr>
              <a:defRPr sz="1500" b="1">
                <a:solidFill>
                  <a:srgbClr val="172B3A"/>
                </a:solidFill>
              </a:defRPr>
            </a:lvl7pPr>
            <a:lvl8pPr>
              <a:defRPr sz="1500" b="1">
                <a:solidFill>
                  <a:srgbClr val="172B3A"/>
                </a:solidFill>
              </a:defRPr>
            </a:lvl8pPr>
            <a:lvl9pPr>
              <a:defRPr sz="150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2B3A"/>
                </a:solidFill>
              </a:defRPr>
            </a:pPr>
            <a:r>
              <a:rPr sz="1500" b="1">
                <a:solidFill>
                  <a:srgbClr val="172B3A"/>
                </a:solidFill>
              </a:rPr>
              <a:t>Ngoma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D6B8C2-305D-495B-8A21-764FBC1F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10125"/>
            <a:ext cx="590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91826A-1626-4012-8AB3-3537E406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10125"/>
            <a:ext cx="3672767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87C744-F27D-403B-BF2E-83598D46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067" y="48006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72B3A"/>
                </a:solidFill>
              </a:defRPr>
            </a:defPPr>
            <a:lvl1pPr>
              <a:defRPr sz="1275" b="1">
                <a:solidFill>
                  <a:srgbClr val="172B3A"/>
                </a:solidFill>
              </a:defRPr>
            </a:lvl1pPr>
            <a:lvl2pPr>
              <a:defRPr sz="1275" b="1">
                <a:solidFill>
                  <a:srgbClr val="172B3A"/>
                </a:solidFill>
              </a:defRPr>
            </a:lvl2pPr>
            <a:lvl3pPr>
              <a:defRPr sz="1275" b="1">
                <a:solidFill>
                  <a:srgbClr val="172B3A"/>
                </a:solidFill>
              </a:defRPr>
            </a:lvl3pPr>
            <a:lvl4pPr>
              <a:defRPr sz="1275" b="1">
                <a:solidFill>
                  <a:srgbClr val="172B3A"/>
                </a:solidFill>
              </a:defRPr>
            </a:lvl4pPr>
            <a:lvl5pPr>
              <a:defRPr sz="1275" b="1">
                <a:solidFill>
                  <a:srgbClr val="172B3A"/>
                </a:solidFill>
              </a:defRPr>
            </a:lvl5pPr>
            <a:lvl6pPr>
              <a:defRPr sz="1275" b="1">
                <a:solidFill>
                  <a:srgbClr val="172B3A"/>
                </a:solidFill>
              </a:defRPr>
            </a:lvl6pPr>
            <a:lvl7pPr>
              <a:defRPr sz="1275" b="1">
                <a:solidFill>
                  <a:srgbClr val="172B3A"/>
                </a:solidFill>
              </a:defRPr>
            </a:lvl7pPr>
            <a:lvl8pPr>
              <a:defRPr sz="1275" b="1">
                <a:solidFill>
                  <a:srgbClr val="172B3A"/>
                </a:solidFill>
              </a:defRPr>
            </a:lvl8pPr>
            <a:lvl9pPr>
              <a:defRPr sz="1275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2B3A"/>
                </a:solidFill>
              </a:defRPr>
            </a:pPr>
            <a:r>
              <a:rPr sz="1275" b="1">
                <a:solidFill>
                  <a:srgbClr val="172B3A"/>
                </a:solidFill>
              </a:rPr>
              <a:t>8.1k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AA9A5B-8603-41D6-A08B-60216998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829175"/>
            <a:ext cx="2143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2616B"/>
                </a:solidFill>
              </a:defRPr>
            </a:defPPr>
            <a:lvl1pPr>
              <a:defRPr sz="1050" b="0">
                <a:solidFill>
                  <a:srgbClr val="52616B"/>
                </a:solidFill>
              </a:defRPr>
            </a:lvl1pPr>
            <a:lvl2pPr>
              <a:defRPr sz="1050" b="0">
                <a:solidFill>
                  <a:srgbClr val="52616B"/>
                </a:solidFill>
              </a:defRPr>
            </a:lvl2pPr>
            <a:lvl3pPr>
              <a:defRPr sz="1050" b="0">
                <a:solidFill>
                  <a:srgbClr val="52616B"/>
                </a:solidFill>
              </a:defRPr>
            </a:lvl3pPr>
            <a:lvl4pPr>
              <a:defRPr sz="1050" b="0">
                <a:solidFill>
                  <a:srgbClr val="52616B"/>
                </a:solidFill>
              </a:defRPr>
            </a:lvl4pPr>
            <a:lvl5pPr>
              <a:defRPr sz="1050" b="0">
                <a:solidFill>
                  <a:srgbClr val="52616B"/>
                </a:solidFill>
              </a:defRPr>
            </a:lvl5pPr>
            <a:lvl6pPr>
              <a:defRPr sz="1050" b="0">
                <a:solidFill>
                  <a:srgbClr val="52616B"/>
                </a:solidFill>
              </a:defRPr>
            </a:lvl6pPr>
            <a:lvl7pPr>
              <a:defRPr sz="1050" b="0">
                <a:solidFill>
                  <a:srgbClr val="52616B"/>
                </a:solidFill>
              </a:defRPr>
            </a:lvl7pPr>
            <a:lvl8pPr>
              <a:defRPr sz="1050" b="0">
                <a:solidFill>
                  <a:srgbClr val="52616B"/>
                </a:solidFill>
              </a:defRPr>
            </a:lvl8pPr>
            <a:lvl9pPr>
              <a:defRPr sz="1050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16B"/>
                </a:solidFill>
              </a:defRPr>
            </a:pPr>
            <a:r>
              <a:rPr sz="1050" b="0">
                <a:solidFill>
                  <a:srgbClr val="52616B"/>
                </a:solidFill>
              </a:rPr>
              <a:t>29.6% of poor households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C308F9-2970-40EB-8D89-D98E6EA7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3D992C-085C-4C57-99DE-EF8B2F75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436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087E8B"/>
                </a:solidFill>
              </a:defRPr>
            </a:defPPr>
            <a:lvl1pPr>
              <a:defRPr sz="1200" b="1">
                <a:solidFill>
                  <a:srgbClr val="087E8B"/>
                </a:solidFill>
              </a:defRPr>
            </a:lvl1pPr>
            <a:lvl2pPr>
              <a:defRPr sz="1200" b="1">
                <a:solidFill>
                  <a:srgbClr val="087E8B"/>
                </a:solidFill>
              </a:defRPr>
            </a:lvl2pPr>
            <a:lvl3pPr>
              <a:defRPr sz="1200" b="1">
                <a:solidFill>
                  <a:srgbClr val="087E8B"/>
                </a:solidFill>
              </a:defRPr>
            </a:lvl3pPr>
            <a:lvl4pPr>
              <a:defRPr sz="1200" b="1">
                <a:solidFill>
                  <a:srgbClr val="087E8B"/>
                </a:solidFill>
              </a:defRPr>
            </a:lvl4pPr>
            <a:lvl5pPr>
              <a:defRPr sz="1200" b="1">
                <a:solidFill>
                  <a:srgbClr val="087E8B"/>
                </a:solidFill>
              </a:defRPr>
            </a:lvl5pPr>
            <a:lvl6pPr>
              <a:defRPr sz="1200" b="1">
                <a:solidFill>
                  <a:srgbClr val="087E8B"/>
                </a:solidFill>
              </a:defRPr>
            </a:lvl6pPr>
            <a:lvl7pPr>
              <a:defRPr sz="1200" b="1">
                <a:solidFill>
                  <a:srgbClr val="087E8B"/>
                </a:solidFill>
              </a:defRPr>
            </a:lvl7pPr>
            <a:lvl8pPr>
              <a:defRPr sz="1200" b="1">
                <a:solidFill>
                  <a:srgbClr val="087E8B"/>
                </a:solidFill>
              </a:defRPr>
            </a:lvl8pPr>
            <a:lvl9pPr>
              <a:defRPr sz="1200" b="1">
                <a:solidFill>
                  <a:srgbClr val="087E8B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</a:defRPr>
            </a:pPr>
            <a:r>
              <a:rPr sz="1200" b="1">
                <a:solidFill>
                  <a:srgbClr val="087E8B"/>
                </a:solidFill>
              </a:rPr>
              <a:t>Rates and counts answer different planning questions: intensity vs. number of households.</a:t>
            </a:r>
          </a:p>
        </p:txBody>
      </p:sp>
    </p:spTree>
    <p:extLst>
      <p:ext uri="{BB962C8B-B14F-4D97-AF65-F5344CB8AC3E}">
        <p14:creationId xmlns:p14="http://schemas.microsoft.com/office/powerpoint/2010/main" val="3361866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958BB1-576A-456E-8CF8-9CBBF3B5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E20C6-CDD6-421D-A2E9-FB758718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06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72B3A"/>
                </a:solidFill>
              </a:defRPr>
            </a:defPPr>
            <a:lvl1pPr>
              <a:defRPr sz="2400" b="1">
                <a:solidFill>
                  <a:srgbClr val="172B3A"/>
                </a:solidFill>
              </a:defRPr>
            </a:lvl1pPr>
            <a:lvl2pPr>
              <a:defRPr sz="2400" b="1">
                <a:solidFill>
                  <a:srgbClr val="172B3A"/>
                </a:solidFill>
              </a:defRPr>
            </a:lvl2pPr>
            <a:lvl3pPr>
              <a:defRPr sz="2400" b="1">
                <a:solidFill>
                  <a:srgbClr val="172B3A"/>
                </a:solidFill>
              </a:defRPr>
            </a:lvl3pPr>
            <a:lvl4pPr>
              <a:defRPr sz="2400" b="1">
                <a:solidFill>
                  <a:srgbClr val="172B3A"/>
                </a:solidFill>
              </a:defRPr>
            </a:lvl4pPr>
            <a:lvl5pPr>
              <a:defRPr sz="2400" b="1">
                <a:solidFill>
                  <a:srgbClr val="172B3A"/>
                </a:solidFill>
              </a:defRPr>
            </a:lvl5pPr>
            <a:lvl6pPr>
              <a:defRPr sz="2400" b="1">
                <a:solidFill>
                  <a:srgbClr val="172B3A"/>
                </a:solidFill>
              </a:defRPr>
            </a:lvl6pPr>
            <a:lvl7pPr>
              <a:defRPr sz="2400" b="1">
                <a:solidFill>
                  <a:srgbClr val="172B3A"/>
                </a:solidFill>
              </a:defRPr>
            </a:lvl7pPr>
            <a:lvl8pPr>
              <a:defRPr sz="2400" b="1">
                <a:solidFill>
                  <a:srgbClr val="172B3A"/>
                </a:solidFill>
              </a:defRPr>
            </a:lvl8pPr>
            <a:lvl9pPr>
              <a:defRPr sz="240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2B3A"/>
                </a:solidFill>
              </a:defRPr>
            </a:pPr>
            <a:r>
              <a:rPr sz="2400" b="1">
                <a:solidFill>
                  <a:srgbClr val="172B3A"/>
                </a:solidFill>
              </a:rPr>
              <a:t>The highest rates warrant local checks, with uncertainty in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81100-1118-452D-B296-66E3F946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16B"/>
                </a:solidFill>
              </a:defRPr>
            </a:defPPr>
            <a:lvl1pPr>
              <a:defRPr sz="1125" b="0">
                <a:solidFill>
                  <a:srgbClr val="52616B"/>
                </a:solidFill>
              </a:defRPr>
            </a:lvl1pPr>
            <a:lvl2pPr>
              <a:defRPr sz="1125" b="0">
                <a:solidFill>
                  <a:srgbClr val="52616B"/>
                </a:solidFill>
              </a:defRPr>
            </a:lvl2pPr>
            <a:lvl3pPr>
              <a:defRPr sz="1125" b="0">
                <a:solidFill>
                  <a:srgbClr val="52616B"/>
                </a:solidFill>
              </a:defRPr>
            </a:lvl3pPr>
            <a:lvl4pPr>
              <a:defRPr sz="1125" b="0">
                <a:solidFill>
                  <a:srgbClr val="52616B"/>
                </a:solidFill>
              </a:defRPr>
            </a:lvl4pPr>
            <a:lvl5pPr>
              <a:defRPr sz="1125" b="0">
                <a:solidFill>
                  <a:srgbClr val="52616B"/>
                </a:solidFill>
              </a:defRPr>
            </a:lvl5pPr>
            <a:lvl6pPr>
              <a:defRPr sz="1125" b="0">
                <a:solidFill>
                  <a:srgbClr val="52616B"/>
                </a:solidFill>
              </a:defRPr>
            </a:lvl6pPr>
            <a:lvl7pPr>
              <a:defRPr sz="1125" b="0">
                <a:solidFill>
                  <a:srgbClr val="52616B"/>
                </a:solidFill>
              </a:defRPr>
            </a:lvl7pPr>
            <a:lvl8pPr>
              <a:defRPr sz="1125" b="0">
                <a:solidFill>
                  <a:srgbClr val="52616B"/>
                </a:solidFill>
              </a:defRPr>
            </a:lvl8pPr>
            <a:lvl9pPr>
              <a:defRPr sz="11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District estimates can guide questions; small samples and wide intervals limit ranking precision.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05CD9-402B-4A2A-A9FA-AB833A04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26A77-7AEF-4C52-950E-E5D7CEBC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788690"/>
                </a:solidFill>
              </a:defRPr>
            </a:defPPr>
            <a:lvl1pPr>
              <a:defRPr sz="825" b="0">
                <a:solidFill>
                  <a:srgbClr val="788690"/>
                </a:solidFill>
              </a:defRPr>
            </a:lvl1pPr>
            <a:lvl2pPr>
              <a:defRPr sz="825" b="0">
                <a:solidFill>
                  <a:srgbClr val="788690"/>
                </a:solidFill>
              </a:defRPr>
            </a:lvl2pPr>
            <a:lvl3pPr>
              <a:defRPr sz="825" b="0">
                <a:solidFill>
                  <a:srgbClr val="788690"/>
                </a:solidFill>
              </a:defRPr>
            </a:lvl3pPr>
            <a:lvl4pPr>
              <a:defRPr sz="825" b="0">
                <a:solidFill>
                  <a:srgbClr val="788690"/>
                </a:solidFill>
              </a:defRPr>
            </a:lvl4pPr>
            <a:lvl5pPr>
              <a:defRPr sz="825" b="0">
                <a:solidFill>
                  <a:srgbClr val="788690"/>
                </a:solidFill>
              </a:defRPr>
            </a:lvl5pPr>
            <a:lvl6pPr>
              <a:defRPr sz="825" b="0">
                <a:solidFill>
                  <a:srgbClr val="788690"/>
                </a:solidFill>
              </a:defRPr>
            </a:lvl6pPr>
            <a:lvl7pPr>
              <a:defRPr sz="825" b="0">
                <a:solidFill>
                  <a:srgbClr val="788690"/>
                </a:solidFill>
              </a:defRPr>
            </a:lvl7pPr>
            <a:lvl8pPr>
              <a:defRPr sz="825" b="0">
                <a:solidFill>
                  <a:srgbClr val="788690"/>
                </a:solidFill>
              </a:defRPr>
            </a:lvl8pPr>
            <a:lvl9pPr>
              <a:defRPr sz="825" b="0">
                <a:solidFill>
                  <a:srgbClr val="788690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788690"/>
                </a:solidFill>
              </a:defRPr>
            </a:pPr>
            <a:r>
              <a:rPr sz="825" b="0">
                <a:solidFill>
                  <a:srgbClr val="788690"/>
                </a:solidFill>
              </a:rPr>
              <a:t>EICV7 • Rwanda • descriptive district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E4649-51DE-4659-9B8B-4BFD3E18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788690"/>
                </a:solidFill>
              </a:defRPr>
            </a:defPPr>
            <a:lvl1pPr>
              <a:defRPr sz="825" b="1">
                <a:solidFill>
                  <a:srgbClr val="788690"/>
                </a:solidFill>
              </a:defRPr>
            </a:lvl1pPr>
            <a:lvl2pPr>
              <a:defRPr sz="825" b="1">
                <a:solidFill>
                  <a:srgbClr val="788690"/>
                </a:solidFill>
              </a:defRPr>
            </a:lvl2pPr>
            <a:lvl3pPr>
              <a:defRPr sz="825" b="1">
                <a:solidFill>
                  <a:srgbClr val="788690"/>
                </a:solidFill>
              </a:defRPr>
            </a:lvl3pPr>
            <a:lvl4pPr>
              <a:defRPr sz="825" b="1">
                <a:solidFill>
                  <a:srgbClr val="788690"/>
                </a:solidFill>
              </a:defRPr>
            </a:lvl4pPr>
            <a:lvl5pPr>
              <a:defRPr sz="825" b="1">
                <a:solidFill>
                  <a:srgbClr val="788690"/>
                </a:solidFill>
              </a:defRPr>
            </a:lvl5pPr>
            <a:lvl6pPr>
              <a:defRPr sz="825" b="1">
                <a:solidFill>
                  <a:srgbClr val="788690"/>
                </a:solidFill>
              </a:defRPr>
            </a:lvl6pPr>
            <a:lvl7pPr>
              <a:defRPr sz="825" b="1">
                <a:solidFill>
                  <a:srgbClr val="788690"/>
                </a:solidFill>
              </a:defRPr>
            </a:lvl7pPr>
            <a:lvl8pPr>
              <a:defRPr sz="825" b="1">
                <a:solidFill>
                  <a:srgbClr val="788690"/>
                </a:solidFill>
              </a:defRPr>
            </a:lvl8pPr>
            <a:lvl9pPr>
              <a:defRPr sz="825" b="1">
                <a:solidFill>
                  <a:srgbClr val="78869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788690"/>
                </a:solidFill>
              </a:defRPr>
            </a:pPr>
            <a:r>
              <a:rPr sz="825" b="1">
                <a:solidFill>
                  <a:srgbClr val="788690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251B7-3BEA-40CF-8956-70661491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72B3A"/>
                </a:solidFill>
              </a:defRPr>
            </a:defPPr>
            <a:lvl1pPr>
              <a:defRPr sz="1425" b="1">
                <a:solidFill>
                  <a:srgbClr val="172B3A"/>
                </a:solidFill>
              </a:defRPr>
            </a:lvl1pPr>
            <a:lvl2pPr>
              <a:defRPr sz="1425" b="1">
                <a:solidFill>
                  <a:srgbClr val="172B3A"/>
                </a:solidFill>
              </a:defRPr>
            </a:lvl2pPr>
            <a:lvl3pPr>
              <a:defRPr sz="1425" b="1">
                <a:solidFill>
                  <a:srgbClr val="172B3A"/>
                </a:solidFill>
              </a:defRPr>
            </a:lvl3pPr>
            <a:lvl4pPr>
              <a:defRPr sz="1425" b="1">
                <a:solidFill>
                  <a:srgbClr val="172B3A"/>
                </a:solidFill>
              </a:defRPr>
            </a:lvl4pPr>
            <a:lvl5pPr>
              <a:defRPr sz="1425" b="1">
                <a:solidFill>
                  <a:srgbClr val="172B3A"/>
                </a:solidFill>
              </a:defRPr>
            </a:lvl5pPr>
            <a:lvl6pPr>
              <a:defRPr sz="1425" b="1">
                <a:solidFill>
                  <a:srgbClr val="172B3A"/>
                </a:solidFill>
              </a:defRPr>
            </a:lvl6pPr>
            <a:lvl7pPr>
              <a:defRPr sz="1425" b="1">
                <a:solidFill>
                  <a:srgbClr val="172B3A"/>
                </a:solidFill>
              </a:defRPr>
            </a:lvl7pPr>
            <a:lvl8pPr>
              <a:defRPr sz="1425" b="1">
                <a:solidFill>
                  <a:srgbClr val="172B3A"/>
                </a:solidFill>
              </a:defRPr>
            </a:lvl8pPr>
            <a:lvl9pPr>
              <a:defRPr sz="1425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2B3A"/>
                </a:solidFill>
              </a:defRPr>
            </a:pPr>
            <a:r>
              <a:rPr sz="1425" b="1">
                <a:solidFill>
                  <a:srgbClr val="172B3A"/>
                </a:solidFill>
              </a:rPr>
              <a:t>Ngoma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4F39A-1A4C-4FC0-8085-82153925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00225"/>
            <a:ext cx="53340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4E854C-C848-45FA-84E1-2F680FFC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9097" y="1752600"/>
            <a:ext cx="206248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D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194F26-F71B-4B8F-9C90-77140534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3187" y="1724025"/>
            <a:ext cx="1143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9BB545-825D-4C53-B32B-8C699729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76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172B3A"/>
                </a:solidFill>
              </a:defRPr>
            </a:defPPr>
            <a:lvl1pPr>
              <a:defRPr sz="1200" b="1">
                <a:solidFill>
                  <a:srgbClr val="172B3A"/>
                </a:solidFill>
              </a:defRPr>
            </a:lvl1pPr>
            <a:lvl2pPr>
              <a:defRPr sz="1200" b="1">
                <a:solidFill>
                  <a:srgbClr val="172B3A"/>
                </a:solidFill>
              </a:defRPr>
            </a:lvl2pPr>
            <a:lvl3pPr>
              <a:defRPr sz="1200" b="1">
                <a:solidFill>
                  <a:srgbClr val="172B3A"/>
                </a:solidFill>
              </a:defRPr>
            </a:lvl3pPr>
            <a:lvl4pPr>
              <a:defRPr sz="1200" b="1">
                <a:solidFill>
                  <a:srgbClr val="172B3A"/>
                </a:solidFill>
              </a:defRPr>
            </a:lvl4pPr>
            <a:lvl5pPr>
              <a:defRPr sz="1200" b="1">
                <a:solidFill>
                  <a:srgbClr val="172B3A"/>
                </a:solidFill>
              </a:defRPr>
            </a:lvl5pPr>
            <a:lvl6pPr>
              <a:defRPr sz="1200" b="1">
                <a:solidFill>
                  <a:srgbClr val="172B3A"/>
                </a:solidFill>
              </a:defRPr>
            </a:lvl6pPr>
            <a:lvl7pPr>
              <a:defRPr sz="1200" b="1">
                <a:solidFill>
                  <a:srgbClr val="172B3A"/>
                </a:solidFill>
              </a:defRPr>
            </a:lvl7pPr>
            <a:lvl8pPr>
              <a:defRPr sz="1200" b="1">
                <a:solidFill>
                  <a:srgbClr val="172B3A"/>
                </a:solidFill>
              </a:defRPr>
            </a:lvl8pPr>
            <a:lvl9pPr>
              <a:defRPr sz="120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2B3A"/>
                </a:solidFill>
              </a:defRPr>
            </a:pPr>
            <a:r>
              <a:rPr sz="1200" b="1">
                <a:solidFill>
                  <a:srgbClr val="172B3A"/>
                </a:solidFill>
              </a:rPr>
              <a:t>29.6%  (20.9–38.3)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4446A-CF3D-4CB3-979D-217F66C3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717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72B3A"/>
                </a:solidFill>
              </a:defRPr>
            </a:defPPr>
            <a:lvl1pPr>
              <a:defRPr sz="1425" b="1">
                <a:solidFill>
                  <a:srgbClr val="172B3A"/>
                </a:solidFill>
              </a:defRPr>
            </a:lvl1pPr>
            <a:lvl2pPr>
              <a:defRPr sz="1425" b="1">
                <a:solidFill>
                  <a:srgbClr val="172B3A"/>
                </a:solidFill>
              </a:defRPr>
            </a:lvl2pPr>
            <a:lvl3pPr>
              <a:defRPr sz="1425" b="1">
                <a:solidFill>
                  <a:srgbClr val="172B3A"/>
                </a:solidFill>
              </a:defRPr>
            </a:lvl3pPr>
            <a:lvl4pPr>
              <a:defRPr sz="1425" b="1">
                <a:solidFill>
                  <a:srgbClr val="172B3A"/>
                </a:solidFill>
              </a:defRPr>
            </a:lvl4pPr>
            <a:lvl5pPr>
              <a:defRPr sz="1425" b="1">
                <a:solidFill>
                  <a:srgbClr val="172B3A"/>
                </a:solidFill>
              </a:defRPr>
            </a:lvl5pPr>
            <a:lvl6pPr>
              <a:defRPr sz="1425" b="1">
                <a:solidFill>
                  <a:srgbClr val="172B3A"/>
                </a:solidFill>
              </a:defRPr>
            </a:lvl6pPr>
            <a:lvl7pPr>
              <a:defRPr sz="1425" b="1">
                <a:solidFill>
                  <a:srgbClr val="172B3A"/>
                </a:solidFill>
              </a:defRPr>
            </a:lvl7pPr>
            <a:lvl8pPr>
              <a:defRPr sz="1425" b="1">
                <a:solidFill>
                  <a:srgbClr val="172B3A"/>
                </a:solidFill>
              </a:defRPr>
            </a:lvl8pPr>
            <a:lvl9pPr>
              <a:defRPr sz="1425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2B3A"/>
                </a:solidFill>
              </a:defRPr>
            </a:pPr>
            <a:r>
              <a:rPr sz="1425" b="1">
                <a:solidFill>
                  <a:srgbClr val="172B3A"/>
                </a:solidFill>
              </a:rPr>
              <a:t>Kamonyi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1E079-CF09-40B7-8F99-127E8115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95550"/>
            <a:ext cx="53340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94687B-7A1D-4E55-8E0C-77758714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7243" y="2447925"/>
            <a:ext cx="1932093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D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1FB09B-A739-4926-A7DB-B7FA523F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067" y="2419350"/>
            <a:ext cx="1143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5E6B3D-C79A-4B03-83C0-94BC588B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717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172B3A"/>
                </a:solidFill>
              </a:defRPr>
            </a:defPPr>
            <a:lvl1pPr>
              <a:defRPr sz="1200" b="1">
                <a:solidFill>
                  <a:srgbClr val="172B3A"/>
                </a:solidFill>
              </a:defRPr>
            </a:lvl1pPr>
            <a:lvl2pPr>
              <a:defRPr sz="1200" b="1">
                <a:solidFill>
                  <a:srgbClr val="172B3A"/>
                </a:solidFill>
              </a:defRPr>
            </a:lvl2pPr>
            <a:lvl3pPr>
              <a:defRPr sz="1200" b="1">
                <a:solidFill>
                  <a:srgbClr val="172B3A"/>
                </a:solidFill>
              </a:defRPr>
            </a:lvl3pPr>
            <a:lvl4pPr>
              <a:defRPr sz="1200" b="1">
                <a:solidFill>
                  <a:srgbClr val="172B3A"/>
                </a:solidFill>
              </a:defRPr>
            </a:lvl4pPr>
            <a:lvl5pPr>
              <a:defRPr sz="1200" b="1">
                <a:solidFill>
                  <a:srgbClr val="172B3A"/>
                </a:solidFill>
              </a:defRPr>
            </a:lvl5pPr>
            <a:lvl6pPr>
              <a:defRPr sz="1200" b="1">
                <a:solidFill>
                  <a:srgbClr val="172B3A"/>
                </a:solidFill>
              </a:defRPr>
            </a:lvl6pPr>
            <a:lvl7pPr>
              <a:defRPr sz="1200" b="1">
                <a:solidFill>
                  <a:srgbClr val="172B3A"/>
                </a:solidFill>
              </a:defRPr>
            </a:lvl7pPr>
            <a:lvl8pPr>
              <a:defRPr sz="1200" b="1">
                <a:solidFill>
                  <a:srgbClr val="172B3A"/>
                </a:solidFill>
              </a:defRPr>
            </a:lvl8pPr>
            <a:lvl9pPr>
              <a:defRPr sz="120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2B3A"/>
                </a:solidFill>
              </a:defRPr>
            </a:pPr>
            <a:r>
              <a:rPr sz="1200" b="1">
                <a:solidFill>
                  <a:srgbClr val="172B3A"/>
                </a:solidFill>
              </a:rPr>
              <a:t>29.0%  (20.8–37.1)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1B1868-8C30-4B6D-A490-019659A7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72B3A"/>
                </a:solidFill>
              </a:defRPr>
            </a:defPPr>
            <a:lvl1pPr>
              <a:defRPr sz="1425" b="1">
                <a:solidFill>
                  <a:srgbClr val="172B3A"/>
                </a:solidFill>
              </a:defRPr>
            </a:lvl1pPr>
            <a:lvl2pPr>
              <a:defRPr sz="1425" b="1">
                <a:solidFill>
                  <a:srgbClr val="172B3A"/>
                </a:solidFill>
              </a:defRPr>
            </a:lvl2pPr>
            <a:lvl3pPr>
              <a:defRPr sz="1425" b="1">
                <a:solidFill>
                  <a:srgbClr val="172B3A"/>
                </a:solidFill>
              </a:defRPr>
            </a:lvl3pPr>
            <a:lvl4pPr>
              <a:defRPr sz="1425" b="1">
                <a:solidFill>
                  <a:srgbClr val="172B3A"/>
                </a:solidFill>
              </a:defRPr>
            </a:lvl4pPr>
            <a:lvl5pPr>
              <a:defRPr sz="1425" b="1">
                <a:solidFill>
                  <a:srgbClr val="172B3A"/>
                </a:solidFill>
              </a:defRPr>
            </a:lvl5pPr>
            <a:lvl6pPr>
              <a:defRPr sz="1425" b="1">
                <a:solidFill>
                  <a:srgbClr val="172B3A"/>
                </a:solidFill>
              </a:defRPr>
            </a:lvl6pPr>
            <a:lvl7pPr>
              <a:defRPr sz="1425" b="1">
                <a:solidFill>
                  <a:srgbClr val="172B3A"/>
                </a:solidFill>
              </a:defRPr>
            </a:lvl7pPr>
            <a:lvl8pPr>
              <a:defRPr sz="1425" b="1">
                <a:solidFill>
                  <a:srgbClr val="172B3A"/>
                </a:solidFill>
              </a:defRPr>
            </a:lvl8pPr>
            <a:lvl9pPr>
              <a:defRPr sz="1425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2B3A"/>
                </a:solidFill>
              </a:defRPr>
            </a:pPr>
            <a:r>
              <a:rPr sz="1425" b="1">
                <a:solidFill>
                  <a:srgbClr val="172B3A"/>
                </a:solidFill>
              </a:rPr>
              <a:t>Nyanza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3DC63C-8F80-45B8-95D7-733D5874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90875"/>
            <a:ext cx="53340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C3D59A-7C7C-4EC6-9533-7217154C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217" y="3143250"/>
            <a:ext cx="156464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D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F10583-87C2-43A2-AE40-5E3D3D9C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5387" y="3114675"/>
            <a:ext cx="1143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99352A-09A1-49C9-B4FB-6556FFB0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67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172B3A"/>
                </a:solidFill>
              </a:defRPr>
            </a:defPPr>
            <a:lvl1pPr>
              <a:defRPr sz="1200" b="1">
                <a:solidFill>
                  <a:srgbClr val="172B3A"/>
                </a:solidFill>
              </a:defRPr>
            </a:lvl1pPr>
            <a:lvl2pPr>
              <a:defRPr sz="1200" b="1">
                <a:solidFill>
                  <a:srgbClr val="172B3A"/>
                </a:solidFill>
              </a:defRPr>
            </a:lvl2pPr>
            <a:lvl3pPr>
              <a:defRPr sz="1200" b="1">
                <a:solidFill>
                  <a:srgbClr val="172B3A"/>
                </a:solidFill>
              </a:defRPr>
            </a:lvl3pPr>
            <a:lvl4pPr>
              <a:defRPr sz="1200" b="1">
                <a:solidFill>
                  <a:srgbClr val="172B3A"/>
                </a:solidFill>
              </a:defRPr>
            </a:lvl4pPr>
            <a:lvl5pPr>
              <a:defRPr sz="1200" b="1">
                <a:solidFill>
                  <a:srgbClr val="172B3A"/>
                </a:solidFill>
              </a:defRPr>
            </a:lvl5pPr>
            <a:lvl6pPr>
              <a:defRPr sz="1200" b="1">
                <a:solidFill>
                  <a:srgbClr val="172B3A"/>
                </a:solidFill>
              </a:defRPr>
            </a:lvl6pPr>
            <a:lvl7pPr>
              <a:defRPr sz="1200" b="1">
                <a:solidFill>
                  <a:srgbClr val="172B3A"/>
                </a:solidFill>
              </a:defRPr>
            </a:lvl7pPr>
            <a:lvl8pPr>
              <a:defRPr sz="1200" b="1">
                <a:solidFill>
                  <a:srgbClr val="172B3A"/>
                </a:solidFill>
              </a:defRPr>
            </a:lvl8pPr>
            <a:lvl9pPr>
              <a:defRPr sz="120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2B3A"/>
                </a:solidFill>
              </a:defRPr>
            </a:pPr>
            <a:r>
              <a:rPr sz="1200" b="1">
                <a:solidFill>
                  <a:srgbClr val="172B3A"/>
                </a:solidFill>
              </a:rPr>
              <a:t>28.1%  (21.5–34.7)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917F17-F70C-4BB7-948E-04CD1B15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72B3A"/>
                </a:solidFill>
              </a:defRPr>
            </a:defPPr>
            <a:lvl1pPr>
              <a:defRPr sz="1425" b="1">
                <a:solidFill>
                  <a:srgbClr val="172B3A"/>
                </a:solidFill>
              </a:defRPr>
            </a:lvl1pPr>
            <a:lvl2pPr>
              <a:defRPr sz="1425" b="1">
                <a:solidFill>
                  <a:srgbClr val="172B3A"/>
                </a:solidFill>
              </a:defRPr>
            </a:lvl2pPr>
            <a:lvl3pPr>
              <a:defRPr sz="1425" b="1">
                <a:solidFill>
                  <a:srgbClr val="172B3A"/>
                </a:solidFill>
              </a:defRPr>
            </a:lvl3pPr>
            <a:lvl4pPr>
              <a:defRPr sz="1425" b="1">
                <a:solidFill>
                  <a:srgbClr val="172B3A"/>
                </a:solidFill>
              </a:defRPr>
            </a:lvl4pPr>
            <a:lvl5pPr>
              <a:defRPr sz="1425" b="1">
                <a:solidFill>
                  <a:srgbClr val="172B3A"/>
                </a:solidFill>
              </a:defRPr>
            </a:lvl5pPr>
            <a:lvl6pPr>
              <a:defRPr sz="1425" b="1">
                <a:solidFill>
                  <a:srgbClr val="172B3A"/>
                </a:solidFill>
              </a:defRPr>
            </a:lvl6pPr>
            <a:lvl7pPr>
              <a:defRPr sz="1425" b="1">
                <a:solidFill>
                  <a:srgbClr val="172B3A"/>
                </a:solidFill>
              </a:defRPr>
            </a:lvl7pPr>
            <a:lvl8pPr>
              <a:defRPr sz="1425" b="1">
                <a:solidFill>
                  <a:srgbClr val="172B3A"/>
                </a:solidFill>
              </a:defRPr>
            </a:lvl8pPr>
            <a:lvl9pPr>
              <a:defRPr sz="1425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2B3A"/>
                </a:solidFill>
              </a:defRPr>
            </a:pPr>
            <a:r>
              <a:rPr sz="1425" b="1">
                <a:solidFill>
                  <a:srgbClr val="172B3A"/>
                </a:solidFill>
              </a:rPr>
              <a:t>Muhanga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766CC-928B-4C4E-A740-9D84836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86200"/>
            <a:ext cx="53340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81932C-5AB6-481B-91E2-A39AC65E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417" y="3838575"/>
            <a:ext cx="3176693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D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F0AD5F-FC57-4E97-BF5A-5E496724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4613" y="3810000"/>
            <a:ext cx="1143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9C87D6-B40A-4CBC-B5DE-53E5511A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623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172B3A"/>
                </a:solidFill>
              </a:defRPr>
            </a:defPPr>
            <a:lvl1pPr>
              <a:defRPr sz="1200" b="1">
                <a:solidFill>
                  <a:srgbClr val="172B3A"/>
                </a:solidFill>
              </a:defRPr>
            </a:lvl1pPr>
            <a:lvl2pPr>
              <a:defRPr sz="1200" b="1">
                <a:solidFill>
                  <a:srgbClr val="172B3A"/>
                </a:solidFill>
              </a:defRPr>
            </a:lvl2pPr>
            <a:lvl3pPr>
              <a:defRPr sz="1200" b="1">
                <a:solidFill>
                  <a:srgbClr val="172B3A"/>
                </a:solidFill>
              </a:defRPr>
            </a:lvl3pPr>
            <a:lvl4pPr>
              <a:defRPr sz="1200" b="1">
                <a:solidFill>
                  <a:srgbClr val="172B3A"/>
                </a:solidFill>
              </a:defRPr>
            </a:lvl4pPr>
            <a:lvl5pPr>
              <a:defRPr sz="1200" b="1">
                <a:solidFill>
                  <a:srgbClr val="172B3A"/>
                </a:solidFill>
              </a:defRPr>
            </a:lvl5pPr>
            <a:lvl6pPr>
              <a:defRPr sz="1200" b="1">
                <a:solidFill>
                  <a:srgbClr val="172B3A"/>
                </a:solidFill>
              </a:defRPr>
            </a:lvl6pPr>
            <a:lvl7pPr>
              <a:defRPr sz="1200" b="1">
                <a:solidFill>
                  <a:srgbClr val="172B3A"/>
                </a:solidFill>
              </a:defRPr>
            </a:lvl7pPr>
            <a:lvl8pPr>
              <a:defRPr sz="1200" b="1">
                <a:solidFill>
                  <a:srgbClr val="172B3A"/>
                </a:solidFill>
              </a:defRPr>
            </a:lvl8pPr>
            <a:lvl9pPr>
              <a:defRPr sz="120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2B3A"/>
                </a:solidFill>
              </a:defRPr>
            </a:pPr>
            <a:r>
              <a:rPr sz="1200" b="1">
                <a:solidFill>
                  <a:srgbClr val="172B3A"/>
                </a:solidFill>
              </a:rPr>
              <a:t>25.9%  (12.5–39.3)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848ED0-5E23-4FF1-AAE7-6C9534EF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72B3A"/>
                </a:solidFill>
              </a:defRPr>
            </a:defPPr>
            <a:lvl1pPr>
              <a:defRPr sz="1425" b="1">
                <a:solidFill>
                  <a:srgbClr val="172B3A"/>
                </a:solidFill>
              </a:defRPr>
            </a:lvl1pPr>
            <a:lvl2pPr>
              <a:defRPr sz="1425" b="1">
                <a:solidFill>
                  <a:srgbClr val="172B3A"/>
                </a:solidFill>
              </a:defRPr>
            </a:lvl2pPr>
            <a:lvl3pPr>
              <a:defRPr sz="1425" b="1">
                <a:solidFill>
                  <a:srgbClr val="172B3A"/>
                </a:solidFill>
              </a:defRPr>
            </a:lvl3pPr>
            <a:lvl4pPr>
              <a:defRPr sz="1425" b="1">
                <a:solidFill>
                  <a:srgbClr val="172B3A"/>
                </a:solidFill>
              </a:defRPr>
            </a:lvl4pPr>
            <a:lvl5pPr>
              <a:defRPr sz="1425" b="1">
                <a:solidFill>
                  <a:srgbClr val="172B3A"/>
                </a:solidFill>
              </a:defRPr>
            </a:lvl5pPr>
            <a:lvl6pPr>
              <a:defRPr sz="1425" b="1">
                <a:solidFill>
                  <a:srgbClr val="172B3A"/>
                </a:solidFill>
              </a:defRPr>
            </a:lvl6pPr>
            <a:lvl7pPr>
              <a:defRPr sz="1425" b="1">
                <a:solidFill>
                  <a:srgbClr val="172B3A"/>
                </a:solidFill>
              </a:defRPr>
            </a:lvl7pPr>
            <a:lvl8pPr>
              <a:defRPr sz="1425" b="1">
                <a:solidFill>
                  <a:srgbClr val="172B3A"/>
                </a:solidFill>
              </a:defRPr>
            </a:lvl8pPr>
            <a:lvl9pPr>
              <a:defRPr sz="1425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2B3A"/>
                </a:solidFill>
              </a:defRPr>
            </a:pPr>
            <a:r>
              <a:rPr sz="1425" b="1">
                <a:solidFill>
                  <a:srgbClr val="172B3A"/>
                </a:solidFill>
              </a:rPr>
              <a:t>Huye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B842E6-9261-4DAC-99D0-26C87016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81525"/>
            <a:ext cx="53340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020389-0D21-4889-A8F8-E0C7935E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697" y="4533900"/>
            <a:ext cx="1943947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D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C3C538-6081-496B-9E6F-C5AD19B8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0520" y="4505325"/>
            <a:ext cx="1143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9A8928-C2B5-46BA-814D-F8139604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57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172B3A"/>
                </a:solidFill>
              </a:defRPr>
            </a:defPPr>
            <a:lvl1pPr>
              <a:defRPr sz="1200" b="1">
                <a:solidFill>
                  <a:srgbClr val="172B3A"/>
                </a:solidFill>
              </a:defRPr>
            </a:lvl1pPr>
            <a:lvl2pPr>
              <a:defRPr sz="1200" b="1">
                <a:solidFill>
                  <a:srgbClr val="172B3A"/>
                </a:solidFill>
              </a:defRPr>
            </a:lvl2pPr>
            <a:lvl3pPr>
              <a:defRPr sz="1200" b="1">
                <a:solidFill>
                  <a:srgbClr val="172B3A"/>
                </a:solidFill>
              </a:defRPr>
            </a:lvl3pPr>
            <a:lvl4pPr>
              <a:defRPr sz="1200" b="1">
                <a:solidFill>
                  <a:srgbClr val="172B3A"/>
                </a:solidFill>
              </a:defRPr>
            </a:lvl4pPr>
            <a:lvl5pPr>
              <a:defRPr sz="1200" b="1">
                <a:solidFill>
                  <a:srgbClr val="172B3A"/>
                </a:solidFill>
              </a:defRPr>
            </a:lvl5pPr>
            <a:lvl6pPr>
              <a:defRPr sz="1200" b="1">
                <a:solidFill>
                  <a:srgbClr val="172B3A"/>
                </a:solidFill>
              </a:defRPr>
            </a:lvl6pPr>
            <a:lvl7pPr>
              <a:defRPr sz="1200" b="1">
                <a:solidFill>
                  <a:srgbClr val="172B3A"/>
                </a:solidFill>
              </a:defRPr>
            </a:lvl7pPr>
            <a:lvl8pPr>
              <a:defRPr sz="1200" b="1">
                <a:solidFill>
                  <a:srgbClr val="172B3A"/>
                </a:solidFill>
              </a:defRPr>
            </a:lvl8pPr>
            <a:lvl9pPr>
              <a:defRPr sz="120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2B3A"/>
                </a:solidFill>
              </a:defRPr>
            </a:pPr>
            <a:r>
              <a:rPr sz="1200" b="1">
                <a:solidFill>
                  <a:srgbClr val="172B3A"/>
                </a:solidFill>
              </a:rPr>
              <a:t>24.6%  (16.4–32.8)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376146-0E5C-4F0E-9AEC-B2D89033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578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788690"/>
                </a:solidFill>
              </a:defRPr>
            </a:defPPr>
            <a:lvl1pPr>
              <a:defRPr sz="975" b="0">
                <a:solidFill>
                  <a:srgbClr val="788690"/>
                </a:solidFill>
              </a:defRPr>
            </a:lvl1pPr>
            <a:lvl2pPr>
              <a:defRPr sz="975" b="0">
                <a:solidFill>
                  <a:srgbClr val="788690"/>
                </a:solidFill>
              </a:defRPr>
            </a:lvl2pPr>
            <a:lvl3pPr>
              <a:defRPr sz="975" b="0">
                <a:solidFill>
                  <a:srgbClr val="788690"/>
                </a:solidFill>
              </a:defRPr>
            </a:lvl3pPr>
            <a:lvl4pPr>
              <a:defRPr sz="975" b="0">
                <a:solidFill>
                  <a:srgbClr val="788690"/>
                </a:solidFill>
              </a:defRPr>
            </a:lvl4pPr>
            <a:lvl5pPr>
              <a:defRPr sz="975" b="0">
                <a:solidFill>
                  <a:srgbClr val="788690"/>
                </a:solidFill>
              </a:defRPr>
            </a:lvl5pPr>
            <a:lvl6pPr>
              <a:defRPr sz="975" b="0">
                <a:solidFill>
                  <a:srgbClr val="788690"/>
                </a:solidFill>
              </a:defRPr>
            </a:lvl6pPr>
            <a:lvl7pPr>
              <a:defRPr sz="975" b="0">
                <a:solidFill>
                  <a:srgbClr val="788690"/>
                </a:solidFill>
              </a:defRPr>
            </a:lvl7pPr>
            <a:lvl8pPr>
              <a:defRPr sz="975" b="0">
                <a:solidFill>
                  <a:srgbClr val="788690"/>
                </a:solidFill>
              </a:defRPr>
            </a:lvl8pPr>
            <a:lvl9pPr>
              <a:defRPr sz="975" b="0">
                <a:solidFill>
                  <a:srgbClr val="78869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88690"/>
                </a:solidFill>
              </a:defRPr>
            </a:pPr>
            <a:r>
              <a:rPr sz="975" b="0">
                <a:solidFill>
                  <a:srgbClr val="788690"/>
                </a:solidFill>
              </a:rPr>
              <a:t>95% confidence intervals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DFCDE2-A5D6-425B-924F-FAC4B88D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C35A4B"/>
                </a:solidFill>
              </a:defRPr>
            </a:defPPr>
            <a:lvl1pPr>
              <a:defRPr sz="1125" b="1">
                <a:solidFill>
                  <a:srgbClr val="C35A4B"/>
                </a:solidFill>
              </a:defRPr>
            </a:lvl1pPr>
            <a:lvl2pPr>
              <a:defRPr sz="1125" b="1">
                <a:solidFill>
                  <a:srgbClr val="C35A4B"/>
                </a:solidFill>
              </a:defRPr>
            </a:lvl2pPr>
            <a:lvl3pPr>
              <a:defRPr sz="1125" b="1">
                <a:solidFill>
                  <a:srgbClr val="C35A4B"/>
                </a:solidFill>
              </a:defRPr>
            </a:lvl3pPr>
            <a:lvl4pPr>
              <a:defRPr sz="1125" b="1">
                <a:solidFill>
                  <a:srgbClr val="C35A4B"/>
                </a:solidFill>
              </a:defRPr>
            </a:lvl4pPr>
            <a:lvl5pPr>
              <a:defRPr sz="1125" b="1">
                <a:solidFill>
                  <a:srgbClr val="C35A4B"/>
                </a:solidFill>
              </a:defRPr>
            </a:lvl5pPr>
            <a:lvl6pPr>
              <a:defRPr sz="1125" b="1">
                <a:solidFill>
                  <a:srgbClr val="C35A4B"/>
                </a:solidFill>
              </a:defRPr>
            </a:lvl6pPr>
            <a:lvl7pPr>
              <a:defRPr sz="1125" b="1">
                <a:solidFill>
                  <a:srgbClr val="C35A4B"/>
                </a:solidFill>
              </a:defRPr>
            </a:lvl7pPr>
            <a:lvl8pPr>
              <a:defRPr sz="1125" b="1">
                <a:solidFill>
                  <a:srgbClr val="C35A4B"/>
                </a:solidFill>
              </a:defRPr>
            </a:lvl8pPr>
            <a:lvl9pPr>
              <a:defRPr sz="1125" b="1">
                <a:solidFill>
                  <a:srgbClr val="C35A4B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C35A4B"/>
                </a:solidFill>
              </a:defRPr>
            </a:pPr>
            <a:r>
              <a:rPr sz="1125" b="1">
                <a:solidFill>
                  <a:srgbClr val="C35A4B"/>
                </a:solidFill>
              </a:rPr>
              <a:t>Nyarugenge (35) and Kicukiro (40) have fewer than 50 sampled poor households.</a:t>
            </a:r>
          </a:p>
        </p:txBody>
      </p:sp>
    </p:spTree>
    <p:extLst>
      <p:ext uri="{BB962C8B-B14F-4D97-AF65-F5344CB8AC3E}">
        <p14:creationId xmlns:p14="http://schemas.microsoft.com/office/powerpoint/2010/main" val="17809729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15357C-20EE-45D5-BCC4-8E64290B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B42D8-829B-4835-B054-3E6B73CC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06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72B3A"/>
                </a:solidFill>
              </a:defRPr>
            </a:defPPr>
            <a:lvl1pPr>
              <a:defRPr sz="2400" b="1">
                <a:solidFill>
                  <a:srgbClr val="172B3A"/>
                </a:solidFill>
              </a:defRPr>
            </a:lvl1pPr>
            <a:lvl2pPr>
              <a:defRPr sz="2400" b="1">
                <a:solidFill>
                  <a:srgbClr val="172B3A"/>
                </a:solidFill>
              </a:defRPr>
            </a:lvl2pPr>
            <a:lvl3pPr>
              <a:defRPr sz="2400" b="1">
                <a:solidFill>
                  <a:srgbClr val="172B3A"/>
                </a:solidFill>
              </a:defRPr>
            </a:lvl3pPr>
            <a:lvl4pPr>
              <a:defRPr sz="2400" b="1">
                <a:solidFill>
                  <a:srgbClr val="172B3A"/>
                </a:solidFill>
              </a:defRPr>
            </a:lvl4pPr>
            <a:lvl5pPr>
              <a:defRPr sz="2400" b="1">
                <a:solidFill>
                  <a:srgbClr val="172B3A"/>
                </a:solidFill>
              </a:defRPr>
            </a:lvl5pPr>
            <a:lvl6pPr>
              <a:defRPr sz="2400" b="1">
                <a:solidFill>
                  <a:srgbClr val="172B3A"/>
                </a:solidFill>
              </a:defRPr>
            </a:lvl6pPr>
            <a:lvl7pPr>
              <a:defRPr sz="2400" b="1">
                <a:solidFill>
                  <a:srgbClr val="172B3A"/>
                </a:solidFill>
              </a:defRPr>
            </a:lvl7pPr>
            <a:lvl8pPr>
              <a:defRPr sz="2400" b="1">
                <a:solidFill>
                  <a:srgbClr val="172B3A"/>
                </a:solidFill>
              </a:defRPr>
            </a:lvl8pPr>
            <a:lvl9pPr>
              <a:defRPr sz="240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2B3A"/>
                </a:solidFill>
              </a:defRPr>
            </a:pPr>
            <a:r>
              <a:rPr sz="2400" b="1">
                <a:solidFill>
                  <a:srgbClr val="172B3A"/>
                </a:solidFill>
              </a:rPr>
              <a:t>Use the map to target service reviews, then verify the cause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C6990-908D-46CC-886F-85A26717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16B"/>
                </a:solidFill>
              </a:defRPr>
            </a:defPPr>
            <a:lvl1pPr>
              <a:defRPr sz="1125" b="0">
                <a:solidFill>
                  <a:srgbClr val="52616B"/>
                </a:solidFill>
              </a:defRPr>
            </a:lvl1pPr>
            <a:lvl2pPr>
              <a:defRPr sz="1125" b="0">
                <a:solidFill>
                  <a:srgbClr val="52616B"/>
                </a:solidFill>
              </a:defRPr>
            </a:lvl2pPr>
            <a:lvl3pPr>
              <a:defRPr sz="1125" b="0">
                <a:solidFill>
                  <a:srgbClr val="52616B"/>
                </a:solidFill>
              </a:defRPr>
            </a:lvl3pPr>
            <a:lvl4pPr>
              <a:defRPr sz="1125" b="0">
                <a:solidFill>
                  <a:srgbClr val="52616B"/>
                </a:solidFill>
              </a:defRPr>
            </a:lvl4pPr>
            <a:lvl5pPr>
              <a:defRPr sz="1125" b="0">
                <a:solidFill>
                  <a:srgbClr val="52616B"/>
                </a:solidFill>
              </a:defRPr>
            </a:lvl5pPr>
            <a:lvl6pPr>
              <a:defRPr sz="1125" b="0">
                <a:solidFill>
                  <a:srgbClr val="52616B"/>
                </a:solidFill>
              </a:defRPr>
            </a:lvl6pPr>
            <a:lvl7pPr>
              <a:defRPr sz="1125" b="0">
                <a:solidFill>
                  <a:srgbClr val="52616B"/>
                </a:solidFill>
              </a:defRPr>
            </a:lvl7pPr>
            <a:lvl8pPr>
              <a:defRPr sz="1125" b="0">
                <a:solidFill>
                  <a:srgbClr val="52616B"/>
                </a:solidFill>
              </a:defRPr>
            </a:lvl8pPr>
            <a:lvl9pPr>
              <a:defRPr sz="11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Three steps for districts, social-protection teams and financial-service providers.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A04BE-1563-4EC2-8D15-DB26694E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93CDC-7A85-4593-A1F9-B81C9B3C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788690"/>
                </a:solidFill>
              </a:defRPr>
            </a:defPPr>
            <a:lvl1pPr>
              <a:defRPr sz="825" b="0">
                <a:solidFill>
                  <a:srgbClr val="788690"/>
                </a:solidFill>
              </a:defRPr>
            </a:lvl1pPr>
            <a:lvl2pPr>
              <a:defRPr sz="825" b="0">
                <a:solidFill>
                  <a:srgbClr val="788690"/>
                </a:solidFill>
              </a:defRPr>
            </a:lvl2pPr>
            <a:lvl3pPr>
              <a:defRPr sz="825" b="0">
                <a:solidFill>
                  <a:srgbClr val="788690"/>
                </a:solidFill>
              </a:defRPr>
            </a:lvl3pPr>
            <a:lvl4pPr>
              <a:defRPr sz="825" b="0">
                <a:solidFill>
                  <a:srgbClr val="788690"/>
                </a:solidFill>
              </a:defRPr>
            </a:lvl4pPr>
            <a:lvl5pPr>
              <a:defRPr sz="825" b="0">
                <a:solidFill>
                  <a:srgbClr val="788690"/>
                </a:solidFill>
              </a:defRPr>
            </a:lvl5pPr>
            <a:lvl6pPr>
              <a:defRPr sz="825" b="0">
                <a:solidFill>
                  <a:srgbClr val="788690"/>
                </a:solidFill>
              </a:defRPr>
            </a:lvl6pPr>
            <a:lvl7pPr>
              <a:defRPr sz="825" b="0">
                <a:solidFill>
                  <a:srgbClr val="788690"/>
                </a:solidFill>
              </a:defRPr>
            </a:lvl7pPr>
            <a:lvl8pPr>
              <a:defRPr sz="825" b="0">
                <a:solidFill>
                  <a:srgbClr val="788690"/>
                </a:solidFill>
              </a:defRPr>
            </a:lvl8pPr>
            <a:lvl9pPr>
              <a:defRPr sz="825" b="0">
                <a:solidFill>
                  <a:srgbClr val="788690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788690"/>
                </a:solidFill>
              </a:defRPr>
            </a:pPr>
            <a:r>
              <a:rPr sz="825" b="0">
                <a:solidFill>
                  <a:srgbClr val="788690"/>
                </a:solidFill>
              </a:rPr>
              <a:t>EICV7 • Rwanda • descriptive district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13A37-E29A-4726-90EA-8C40C436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788690"/>
                </a:solidFill>
              </a:defRPr>
            </a:defPPr>
            <a:lvl1pPr>
              <a:defRPr sz="825" b="1">
                <a:solidFill>
                  <a:srgbClr val="788690"/>
                </a:solidFill>
              </a:defRPr>
            </a:lvl1pPr>
            <a:lvl2pPr>
              <a:defRPr sz="825" b="1">
                <a:solidFill>
                  <a:srgbClr val="788690"/>
                </a:solidFill>
              </a:defRPr>
            </a:lvl2pPr>
            <a:lvl3pPr>
              <a:defRPr sz="825" b="1">
                <a:solidFill>
                  <a:srgbClr val="788690"/>
                </a:solidFill>
              </a:defRPr>
            </a:lvl3pPr>
            <a:lvl4pPr>
              <a:defRPr sz="825" b="1">
                <a:solidFill>
                  <a:srgbClr val="788690"/>
                </a:solidFill>
              </a:defRPr>
            </a:lvl4pPr>
            <a:lvl5pPr>
              <a:defRPr sz="825" b="1">
                <a:solidFill>
                  <a:srgbClr val="788690"/>
                </a:solidFill>
              </a:defRPr>
            </a:lvl5pPr>
            <a:lvl6pPr>
              <a:defRPr sz="825" b="1">
                <a:solidFill>
                  <a:srgbClr val="788690"/>
                </a:solidFill>
              </a:defRPr>
            </a:lvl6pPr>
            <a:lvl7pPr>
              <a:defRPr sz="825" b="1">
                <a:solidFill>
                  <a:srgbClr val="788690"/>
                </a:solidFill>
              </a:defRPr>
            </a:lvl7pPr>
            <a:lvl8pPr>
              <a:defRPr sz="825" b="1">
                <a:solidFill>
                  <a:srgbClr val="788690"/>
                </a:solidFill>
              </a:defRPr>
            </a:lvl8pPr>
            <a:lvl9pPr>
              <a:defRPr sz="825" b="1">
                <a:solidFill>
                  <a:srgbClr val="78869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788690"/>
                </a:solidFill>
              </a:defRPr>
            </a:pPr>
            <a:r>
              <a:rPr sz="825" b="1">
                <a:solidFill>
                  <a:srgbClr val="788690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389B9F-07BA-4E01-9A67-FD2D54C0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325755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1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29822-648F-4051-93C1-34A96170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E02D2-CAEC-4B1F-84A3-F4292505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FFFFF"/>
                </a:solidFill>
              </a:defRPr>
            </a:defPPr>
            <a:lvl1pPr>
              <a:defRPr sz="1575" b="1">
                <a:solidFill>
                  <a:srgbClr val="FFFFFF"/>
                </a:solidFill>
              </a:defRPr>
            </a:lvl1pPr>
            <a:lvl2pPr>
              <a:defRPr sz="1575" b="1">
                <a:solidFill>
                  <a:srgbClr val="FFFFFF"/>
                </a:solidFill>
              </a:defRPr>
            </a:lvl2pPr>
            <a:lvl3pPr>
              <a:defRPr sz="1575" b="1">
                <a:solidFill>
                  <a:srgbClr val="FFFFFF"/>
                </a:solidFill>
              </a:defRPr>
            </a:lvl3pPr>
            <a:lvl4pPr>
              <a:defRPr sz="1575" b="1">
                <a:solidFill>
                  <a:srgbClr val="FFFFFF"/>
                </a:solidFill>
              </a:defRPr>
            </a:lvl4pPr>
            <a:lvl5pPr>
              <a:defRPr sz="1575" b="1">
                <a:solidFill>
                  <a:srgbClr val="FFFFFF"/>
                </a:solidFill>
              </a:defRPr>
            </a:lvl5pPr>
            <a:lvl6pPr>
              <a:defRPr sz="1575" b="1">
                <a:solidFill>
                  <a:srgbClr val="FFFFFF"/>
                </a:solidFill>
              </a:defRPr>
            </a:lvl6pPr>
            <a:lvl7pPr>
              <a:defRPr sz="1575" b="1">
                <a:solidFill>
                  <a:srgbClr val="FFFFFF"/>
                </a:solidFill>
              </a:defRPr>
            </a:lvl7pPr>
            <a:lvl8pPr>
              <a:defRPr sz="1575" b="1">
                <a:solidFill>
                  <a:srgbClr val="FFFFFF"/>
                </a:solidFill>
              </a:defRPr>
            </a:lvl8pPr>
            <a:lvl9pPr>
              <a:defRPr sz="15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E4E931-5BA3-4611-8A58-1EE9FD48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811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72B3A"/>
                </a:solidFill>
              </a:defRPr>
            </a:defPPr>
            <a:lvl1pPr>
              <a:defRPr sz="1575" b="1">
                <a:solidFill>
                  <a:srgbClr val="172B3A"/>
                </a:solidFill>
              </a:defRPr>
            </a:lvl1pPr>
            <a:lvl2pPr>
              <a:defRPr sz="1575" b="1">
                <a:solidFill>
                  <a:srgbClr val="172B3A"/>
                </a:solidFill>
              </a:defRPr>
            </a:lvl2pPr>
            <a:lvl3pPr>
              <a:defRPr sz="1575" b="1">
                <a:solidFill>
                  <a:srgbClr val="172B3A"/>
                </a:solidFill>
              </a:defRPr>
            </a:lvl3pPr>
            <a:lvl4pPr>
              <a:defRPr sz="1575" b="1">
                <a:solidFill>
                  <a:srgbClr val="172B3A"/>
                </a:solidFill>
              </a:defRPr>
            </a:lvl4pPr>
            <a:lvl5pPr>
              <a:defRPr sz="1575" b="1">
                <a:solidFill>
                  <a:srgbClr val="172B3A"/>
                </a:solidFill>
              </a:defRPr>
            </a:lvl5pPr>
            <a:lvl6pPr>
              <a:defRPr sz="1575" b="1">
                <a:solidFill>
                  <a:srgbClr val="172B3A"/>
                </a:solidFill>
              </a:defRPr>
            </a:lvl6pPr>
            <a:lvl7pPr>
              <a:defRPr sz="1575" b="1">
                <a:solidFill>
                  <a:srgbClr val="172B3A"/>
                </a:solidFill>
              </a:defRPr>
            </a:lvl7pPr>
            <a:lvl8pPr>
              <a:defRPr sz="1575" b="1">
                <a:solidFill>
                  <a:srgbClr val="172B3A"/>
                </a:solidFill>
              </a:defRPr>
            </a:lvl8pPr>
            <a:lvl9pPr>
              <a:defRPr sz="1575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2B3A"/>
                </a:solidFill>
              </a:defRPr>
            </a:pPr>
            <a:r>
              <a:rPr sz="1575" b="1">
                <a:solidFill>
                  <a:srgbClr val="172B3A"/>
                </a:solidFill>
              </a:rPr>
              <a:t>Review together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F9F91-9AEF-4E14-ABF2-F8BC51EF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9825"/>
            <a:ext cx="2781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2616B"/>
                </a:solidFill>
              </a:defRPr>
            </a:defPPr>
            <a:lvl1pPr>
              <a:defRPr sz="1200" b="0">
                <a:solidFill>
                  <a:srgbClr val="52616B"/>
                </a:solidFill>
              </a:defRPr>
            </a:lvl1pPr>
            <a:lvl2pPr>
              <a:defRPr sz="1200" b="0">
                <a:solidFill>
                  <a:srgbClr val="52616B"/>
                </a:solidFill>
              </a:defRPr>
            </a:lvl2pPr>
            <a:lvl3pPr>
              <a:defRPr sz="1200" b="0">
                <a:solidFill>
                  <a:srgbClr val="52616B"/>
                </a:solidFill>
              </a:defRPr>
            </a:lvl3pPr>
            <a:lvl4pPr>
              <a:defRPr sz="1200" b="0">
                <a:solidFill>
                  <a:srgbClr val="52616B"/>
                </a:solidFill>
              </a:defRPr>
            </a:lvl4pPr>
            <a:lvl5pPr>
              <a:defRPr sz="1200" b="0">
                <a:solidFill>
                  <a:srgbClr val="52616B"/>
                </a:solidFill>
              </a:defRPr>
            </a:lvl5pPr>
            <a:lvl6pPr>
              <a:defRPr sz="1200" b="0">
                <a:solidFill>
                  <a:srgbClr val="52616B"/>
                </a:solidFill>
              </a:defRPr>
            </a:lvl6pPr>
            <a:lvl7pPr>
              <a:defRPr sz="1200" b="0">
                <a:solidFill>
                  <a:srgbClr val="52616B"/>
                </a:solidFill>
              </a:defRPr>
            </a:lvl7pPr>
            <a:lvl8pPr>
              <a:defRPr sz="1200" b="0">
                <a:solidFill>
                  <a:srgbClr val="52616B"/>
                </a:solidFill>
              </a:defRPr>
            </a:lvl8pPr>
            <a:lvl9pPr>
              <a:defRPr sz="1200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Start with high-burden districts. Bring VUP teams, civil society and account providers together to check local service barriers.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3E42F-9570-49C2-97C8-CD4B96C1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62100"/>
            <a:ext cx="325755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1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ECA0E-1AC1-42F4-A143-97426FA1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62125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7FB1FD-D693-4155-945C-678F810A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621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FFFFF"/>
                </a:solidFill>
              </a:defRPr>
            </a:defPPr>
            <a:lvl1pPr>
              <a:defRPr sz="1575" b="1">
                <a:solidFill>
                  <a:srgbClr val="FFFFFF"/>
                </a:solidFill>
              </a:defRPr>
            </a:lvl1pPr>
            <a:lvl2pPr>
              <a:defRPr sz="1575" b="1">
                <a:solidFill>
                  <a:srgbClr val="FFFFFF"/>
                </a:solidFill>
              </a:defRPr>
            </a:lvl2pPr>
            <a:lvl3pPr>
              <a:defRPr sz="1575" b="1">
                <a:solidFill>
                  <a:srgbClr val="FFFFFF"/>
                </a:solidFill>
              </a:defRPr>
            </a:lvl3pPr>
            <a:lvl4pPr>
              <a:defRPr sz="1575" b="1">
                <a:solidFill>
                  <a:srgbClr val="FFFFFF"/>
                </a:solidFill>
              </a:defRPr>
            </a:lvl4pPr>
            <a:lvl5pPr>
              <a:defRPr sz="1575" b="1">
                <a:solidFill>
                  <a:srgbClr val="FFFFFF"/>
                </a:solidFill>
              </a:defRPr>
            </a:lvl5pPr>
            <a:lvl6pPr>
              <a:defRPr sz="1575" b="1">
                <a:solidFill>
                  <a:srgbClr val="FFFFFF"/>
                </a:solidFill>
              </a:defRPr>
            </a:lvl6pPr>
            <a:lvl7pPr>
              <a:defRPr sz="1575" b="1">
                <a:solidFill>
                  <a:srgbClr val="FFFFFF"/>
                </a:solidFill>
              </a:defRPr>
            </a:lvl7pPr>
            <a:lvl8pPr>
              <a:defRPr sz="1575" b="1">
                <a:solidFill>
                  <a:srgbClr val="FFFFFF"/>
                </a:solidFill>
              </a:defRPr>
            </a:lvl8pPr>
            <a:lvl9pPr>
              <a:defRPr sz="15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5E8073-0F80-47A7-BE73-1BF3770E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7811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72B3A"/>
                </a:solidFill>
              </a:defRPr>
            </a:defPPr>
            <a:lvl1pPr>
              <a:defRPr sz="1575" b="1">
                <a:solidFill>
                  <a:srgbClr val="172B3A"/>
                </a:solidFill>
              </a:defRPr>
            </a:lvl1pPr>
            <a:lvl2pPr>
              <a:defRPr sz="1575" b="1">
                <a:solidFill>
                  <a:srgbClr val="172B3A"/>
                </a:solidFill>
              </a:defRPr>
            </a:lvl2pPr>
            <a:lvl3pPr>
              <a:defRPr sz="1575" b="1">
                <a:solidFill>
                  <a:srgbClr val="172B3A"/>
                </a:solidFill>
              </a:defRPr>
            </a:lvl3pPr>
            <a:lvl4pPr>
              <a:defRPr sz="1575" b="1">
                <a:solidFill>
                  <a:srgbClr val="172B3A"/>
                </a:solidFill>
              </a:defRPr>
            </a:lvl4pPr>
            <a:lvl5pPr>
              <a:defRPr sz="1575" b="1">
                <a:solidFill>
                  <a:srgbClr val="172B3A"/>
                </a:solidFill>
              </a:defRPr>
            </a:lvl5pPr>
            <a:lvl6pPr>
              <a:defRPr sz="1575" b="1">
                <a:solidFill>
                  <a:srgbClr val="172B3A"/>
                </a:solidFill>
              </a:defRPr>
            </a:lvl6pPr>
            <a:lvl7pPr>
              <a:defRPr sz="1575" b="1">
                <a:solidFill>
                  <a:srgbClr val="172B3A"/>
                </a:solidFill>
              </a:defRPr>
            </a:lvl7pPr>
            <a:lvl8pPr>
              <a:defRPr sz="1575" b="1">
                <a:solidFill>
                  <a:srgbClr val="172B3A"/>
                </a:solidFill>
              </a:defRPr>
            </a:lvl8pPr>
            <a:lvl9pPr>
              <a:defRPr sz="1575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2B3A"/>
                </a:solidFill>
              </a:defRPr>
            </a:pPr>
            <a:r>
              <a:rPr sz="1575" b="1">
                <a:solidFill>
                  <a:srgbClr val="172B3A"/>
                </a:solidFill>
              </a:rPr>
              <a:t>Assess and refer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C9400-3E9C-4499-934E-5E612E42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09825"/>
            <a:ext cx="2781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2616B"/>
                </a:solidFill>
              </a:defRPr>
            </a:defPPr>
            <a:lvl1pPr>
              <a:defRPr sz="1200" b="0">
                <a:solidFill>
                  <a:srgbClr val="52616B"/>
                </a:solidFill>
              </a:defRPr>
            </a:lvl1pPr>
            <a:lvl2pPr>
              <a:defRPr sz="1200" b="0">
                <a:solidFill>
                  <a:srgbClr val="52616B"/>
                </a:solidFill>
              </a:defRPr>
            </a:lvl2pPr>
            <a:lvl3pPr>
              <a:defRPr sz="1200" b="0">
                <a:solidFill>
                  <a:srgbClr val="52616B"/>
                </a:solidFill>
              </a:defRPr>
            </a:lvl3pPr>
            <a:lvl4pPr>
              <a:defRPr sz="1200" b="0">
                <a:solidFill>
                  <a:srgbClr val="52616B"/>
                </a:solidFill>
              </a:defRPr>
            </a:lvl4pPr>
            <a:lvl5pPr>
              <a:defRPr sz="1200" b="0">
                <a:solidFill>
                  <a:srgbClr val="52616B"/>
                </a:solidFill>
              </a:defRPr>
            </a:lvl5pPr>
            <a:lvl6pPr>
              <a:defRPr sz="1200" b="0">
                <a:solidFill>
                  <a:srgbClr val="52616B"/>
                </a:solidFill>
              </a:defRPr>
            </a:lvl6pPr>
            <a:lvl7pPr>
              <a:defRPr sz="1200" b="0">
                <a:solidFill>
                  <a:srgbClr val="52616B"/>
                </a:solidFill>
              </a:defRPr>
            </a:lvl7pPr>
            <a:lvl8pPr>
              <a:defRPr sz="1200" b="0">
                <a:solidFill>
                  <a:srgbClr val="52616B"/>
                </a:solidFill>
              </a:defRPr>
            </a:lvl8pPr>
            <a:lvl9pPr>
              <a:defRPr sz="1200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Offer voluntary VUP eligibility checks and practical account information at accessible service points.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8BB240-9995-4A38-89C4-66FCC9E2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62100"/>
            <a:ext cx="325755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1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20F529-4F4D-4257-B022-4EC5C087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62125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EAA98-4723-4E57-A613-04DACE1A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621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FFFFF"/>
                </a:solidFill>
              </a:defRPr>
            </a:defPPr>
            <a:lvl1pPr>
              <a:defRPr sz="1575" b="1">
                <a:solidFill>
                  <a:srgbClr val="FFFFFF"/>
                </a:solidFill>
              </a:defRPr>
            </a:lvl1pPr>
            <a:lvl2pPr>
              <a:defRPr sz="1575" b="1">
                <a:solidFill>
                  <a:srgbClr val="FFFFFF"/>
                </a:solidFill>
              </a:defRPr>
            </a:lvl2pPr>
            <a:lvl3pPr>
              <a:defRPr sz="1575" b="1">
                <a:solidFill>
                  <a:srgbClr val="FFFFFF"/>
                </a:solidFill>
              </a:defRPr>
            </a:lvl3pPr>
            <a:lvl4pPr>
              <a:defRPr sz="1575" b="1">
                <a:solidFill>
                  <a:srgbClr val="FFFFFF"/>
                </a:solidFill>
              </a:defRPr>
            </a:lvl4pPr>
            <a:lvl5pPr>
              <a:defRPr sz="1575" b="1">
                <a:solidFill>
                  <a:srgbClr val="FFFFFF"/>
                </a:solidFill>
              </a:defRPr>
            </a:lvl5pPr>
            <a:lvl6pPr>
              <a:defRPr sz="1575" b="1">
                <a:solidFill>
                  <a:srgbClr val="FFFFFF"/>
                </a:solidFill>
              </a:defRPr>
            </a:lvl6pPr>
            <a:lvl7pPr>
              <a:defRPr sz="1575" b="1">
                <a:solidFill>
                  <a:srgbClr val="FFFFFF"/>
                </a:solidFill>
              </a:defRPr>
            </a:lvl7pPr>
            <a:lvl8pPr>
              <a:defRPr sz="1575" b="1">
                <a:solidFill>
                  <a:srgbClr val="FFFFFF"/>
                </a:solidFill>
              </a:defRPr>
            </a:lvl8pPr>
            <a:lvl9pPr>
              <a:defRPr sz="15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29A221-FF63-4A05-9901-53B9BB51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811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72B3A"/>
                </a:solidFill>
              </a:defRPr>
            </a:defPPr>
            <a:lvl1pPr>
              <a:defRPr sz="1575" b="1">
                <a:solidFill>
                  <a:srgbClr val="172B3A"/>
                </a:solidFill>
              </a:defRPr>
            </a:lvl1pPr>
            <a:lvl2pPr>
              <a:defRPr sz="1575" b="1">
                <a:solidFill>
                  <a:srgbClr val="172B3A"/>
                </a:solidFill>
              </a:defRPr>
            </a:lvl2pPr>
            <a:lvl3pPr>
              <a:defRPr sz="1575" b="1">
                <a:solidFill>
                  <a:srgbClr val="172B3A"/>
                </a:solidFill>
              </a:defRPr>
            </a:lvl3pPr>
            <a:lvl4pPr>
              <a:defRPr sz="1575" b="1">
                <a:solidFill>
                  <a:srgbClr val="172B3A"/>
                </a:solidFill>
              </a:defRPr>
            </a:lvl4pPr>
            <a:lvl5pPr>
              <a:defRPr sz="1575" b="1">
                <a:solidFill>
                  <a:srgbClr val="172B3A"/>
                </a:solidFill>
              </a:defRPr>
            </a:lvl5pPr>
            <a:lvl6pPr>
              <a:defRPr sz="1575" b="1">
                <a:solidFill>
                  <a:srgbClr val="172B3A"/>
                </a:solidFill>
              </a:defRPr>
            </a:lvl6pPr>
            <a:lvl7pPr>
              <a:defRPr sz="1575" b="1">
                <a:solidFill>
                  <a:srgbClr val="172B3A"/>
                </a:solidFill>
              </a:defRPr>
            </a:lvl7pPr>
            <a:lvl8pPr>
              <a:defRPr sz="1575" b="1">
                <a:solidFill>
                  <a:srgbClr val="172B3A"/>
                </a:solidFill>
              </a:defRPr>
            </a:lvl8pPr>
            <a:lvl9pPr>
              <a:defRPr sz="1575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2B3A"/>
                </a:solidFill>
              </a:defRPr>
            </a:pPr>
            <a:r>
              <a:rPr sz="1575" b="1">
                <a:solidFill>
                  <a:srgbClr val="172B3A"/>
                </a:solidFill>
              </a:rPr>
              <a:t>Track overlap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9BBA0C-CE6F-4790-9A11-03ED302D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09825"/>
            <a:ext cx="2781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2616B"/>
                </a:solidFill>
              </a:defRPr>
            </a:defPPr>
            <a:lvl1pPr>
              <a:defRPr sz="1200" b="0">
                <a:solidFill>
                  <a:srgbClr val="52616B"/>
                </a:solidFill>
              </a:defRPr>
            </a:lvl1pPr>
            <a:lvl2pPr>
              <a:defRPr sz="1200" b="0">
                <a:solidFill>
                  <a:srgbClr val="52616B"/>
                </a:solidFill>
              </a:defRPr>
            </a:lvl2pPr>
            <a:lvl3pPr>
              <a:defRPr sz="1200" b="0">
                <a:solidFill>
                  <a:srgbClr val="52616B"/>
                </a:solidFill>
              </a:defRPr>
            </a:lvl3pPr>
            <a:lvl4pPr>
              <a:defRPr sz="1200" b="0">
                <a:solidFill>
                  <a:srgbClr val="52616B"/>
                </a:solidFill>
              </a:defRPr>
            </a:lvl4pPr>
            <a:lvl5pPr>
              <a:defRPr sz="1200" b="0">
                <a:solidFill>
                  <a:srgbClr val="52616B"/>
                </a:solidFill>
              </a:defRPr>
            </a:lvl5pPr>
            <a:lvl6pPr>
              <a:defRPr sz="1200" b="0">
                <a:solidFill>
                  <a:srgbClr val="52616B"/>
                </a:solidFill>
              </a:defRPr>
            </a:lvl6pPr>
            <a:lvl7pPr>
              <a:defRPr sz="1200" b="0">
                <a:solidFill>
                  <a:srgbClr val="52616B"/>
                </a:solidFill>
              </a:defRPr>
            </a:lvl7pPr>
            <a:lvl8pPr>
              <a:defRPr sz="1200" b="0">
                <a:solidFill>
                  <a:srgbClr val="52616B"/>
                </a:solidFill>
              </a:defRPr>
            </a:lvl8pPr>
            <a:lvl9pPr>
              <a:defRPr sz="1200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Monitor protection reach and account access together; publish district summaries with uncertainty.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F61BDC-A396-4A9E-8C21-6EFED02B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10382250" cy="1609725"/>
          </a:xfrm>
          <a:prstGeom xmlns:a="http://schemas.openxmlformats.org/drawingml/2006/main" prst="roundRect">
            <a:avLst>
              <a:gd name="adj" fmla="val 4734"/>
            </a:avLst>
          </a:prstGeom>
          <a:solidFill xmlns:a="http://schemas.openxmlformats.org/drawingml/2006/main">
            <a:srgbClr val="FFF7EE"/>
          </a:solidFill>
          <a:ln xmlns:a="http://schemas.openxmlformats.org/drawingml/2006/main" w="9525">
            <a:solidFill>
              <a:srgbClr val="F0D9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77A9C3-9530-4D03-9C60-F06A5BCB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5767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E08A32"/>
                </a:solidFill>
              </a:defRPr>
            </a:defPPr>
            <a:lvl1pPr>
              <a:defRPr sz="1350" b="1">
                <a:solidFill>
                  <a:srgbClr val="E08A32"/>
                </a:solidFill>
              </a:defRPr>
            </a:lvl1pPr>
            <a:lvl2pPr>
              <a:defRPr sz="1350" b="1">
                <a:solidFill>
                  <a:srgbClr val="E08A32"/>
                </a:solidFill>
              </a:defRPr>
            </a:lvl2pPr>
            <a:lvl3pPr>
              <a:defRPr sz="1350" b="1">
                <a:solidFill>
                  <a:srgbClr val="E08A32"/>
                </a:solidFill>
              </a:defRPr>
            </a:lvl3pPr>
            <a:lvl4pPr>
              <a:defRPr sz="1350" b="1">
                <a:solidFill>
                  <a:srgbClr val="E08A32"/>
                </a:solidFill>
              </a:defRPr>
            </a:lvl4pPr>
            <a:lvl5pPr>
              <a:defRPr sz="1350" b="1">
                <a:solidFill>
                  <a:srgbClr val="E08A32"/>
                </a:solidFill>
              </a:defRPr>
            </a:lvl5pPr>
            <a:lvl6pPr>
              <a:defRPr sz="1350" b="1">
                <a:solidFill>
                  <a:srgbClr val="E08A32"/>
                </a:solidFill>
              </a:defRPr>
            </a:lvl6pPr>
            <a:lvl7pPr>
              <a:defRPr sz="1350" b="1">
                <a:solidFill>
                  <a:srgbClr val="E08A32"/>
                </a:solidFill>
              </a:defRPr>
            </a:lvl7pPr>
            <a:lvl8pPr>
              <a:defRPr sz="1350" b="1">
                <a:solidFill>
                  <a:srgbClr val="E08A32"/>
                </a:solidFill>
              </a:defRPr>
            </a:lvl8pPr>
            <a:lvl9pPr>
              <a:defRPr sz="1350" b="1">
                <a:solidFill>
                  <a:srgbClr val="E08A3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08A32"/>
                </a:solidFill>
              </a:defRPr>
            </a:pPr>
            <a:r>
              <a:rPr sz="1350" b="1">
                <a:solidFill>
                  <a:srgbClr val="E08A32"/>
                </a:solidFill>
              </a:rPr>
              <a:t>Limits to keep in the decision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38AA9E-09FB-421F-8F6B-116FD5BF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767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2B3A"/>
                </a:solidFill>
              </a:defRPr>
            </a:defPPr>
            <a:lvl1pPr>
              <a:defRPr sz="1350" b="0">
                <a:solidFill>
                  <a:srgbClr val="172B3A"/>
                </a:solidFill>
              </a:defRPr>
            </a:lvl1pPr>
            <a:lvl2pPr>
              <a:defRPr sz="1350" b="0">
                <a:solidFill>
                  <a:srgbClr val="172B3A"/>
                </a:solidFill>
              </a:defRPr>
            </a:lvl2pPr>
            <a:lvl3pPr>
              <a:defRPr sz="1350" b="0">
                <a:solidFill>
                  <a:srgbClr val="172B3A"/>
                </a:solidFill>
              </a:defRPr>
            </a:lvl3pPr>
            <a:lvl4pPr>
              <a:defRPr sz="1350" b="0">
                <a:solidFill>
                  <a:srgbClr val="172B3A"/>
                </a:solidFill>
              </a:defRPr>
            </a:lvl4pPr>
            <a:lvl5pPr>
              <a:defRPr sz="1350" b="0">
                <a:solidFill>
                  <a:srgbClr val="172B3A"/>
                </a:solidFill>
              </a:defRPr>
            </a:lvl5pPr>
            <a:lvl6pPr>
              <a:defRPr sz="1350" b="0">
                <a:solidFill>
                  <a:srgbClr val="172B3A"/>
                </a:solidFill>
              </a:defRPr>
            </a:lvl6pPr>
            <a:lvl7pPr>
              <a:defRPr sz="1350" b="0">
                <a:solidFill>
                  <a:srgbClr val="172B3A"/>
                </a:solidFill>
              </a:defRPr>
            </a:lvl7pPr>
            <a:lvl8pPr>
              <a:defRPr sz="1350" b="0">
                <a:solidFill>
                  <a:srgbClr val="172B3A"/>
                </a:solidFill>
              </a:defRPr>
            </a:lvl8pPr>
            <a:lvl9pPr>
              <a:defRPr sz="135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The survey does not establish eligibility, causes of non-coverage, affordability, active use or program impact. Treat the findings as a screening signal, and validate locally before changing eligibility or targeting individual households.</a:t>
            </a:r>
          </a:p>
        </p:txBody>
      </p:sp>
    </p:spTree>
    <p:extLst>
      <p:ext uri="{BB962C8B-B14F-4D97-AF65-F5344CB8AC3E}">
        <p14:creationId xmlns:p14="http://schemas.microsoft.com/office/powerpoint/2010/main" val="7945647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2026-10-28T08:30:34.8550000Z</dcterms:created>
  <dcterms:modified xsi:type="dcterms:W3CDTF">2026-10-28T08:30:34.8550000Z</dcterms:modified>
</coreProperties>
</file>